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Standard Storage</c:v>
                </c:pt>
              </c:strCache>
            </c:strRef>
          </c:tx>
          <c:spPr>
            <a:solidFill>
              <a:srgbClr val="64748B"/>
            </a:solidFill>
            <a:ln w="31750" cap="flat">
              <a:solidFill>
                <a:srgbClr val="64748B"/>
              </a:solidFill>
              <a:prstDash val="solid"/>
              <a:round/>
            </a:ln>
            <a:effectLst/>
          </c:spPr>
          <c:invertIfNegative val="0"/>
          <c:dLbls>
            <c:numFmt formatCode="#,##0" sourceLinked="0"/>
            <c:txPr>
              <a:bodyPr/>
              <a:lstStyle/>
              <a:p>
                <a:pPr>
                  <a:defRPr b="0" i="0" strike="noStrike" sz="1200" u="none">
                    <a:solidFill>
                      <a:srgbClr val="1E293B"/>
                    </a:solidFill>
                    <a:latin typeface="Arial"/>
                  </a:defRPr>
                </a:pPr>
              </a:p>
            </c:txPr>
            <c:showLegendKey val="0"/>
            <c:showVal val="0"/>
            <c:showCatName val="0"/>
            <c:showSerName val="0"/>
            <c:showPercent val="0"/>
            <c:showBubbleSize val="0"/>
            <c:showLeaderLines val="0"/>
          </c:dLbls>
          <c:marker>
            <c:symbol val="circle"/>
            <c:size val="5"/>
            <c:spPr>
              <a:solidFill>
                <a:srgbClr val="64748B"/>
              </a:solidFill>
              <a:ln w="9525" cap="flat">
                <a:solidFill>
                  <a:srgbClr val="64748B"/>
                </a:solidFill>
                <a:prstDash val="solid"/>
                <a:round/>
              </a:ln>
              <a:effectLst/>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Sheet1!$B$2:$B$8</c:f>
              <c:numCache>
                <c:formatCode>General</c:formatCode>
                <c:ptCount val="7"/>
                <c:pt idx="0">
                  <c:v>100</c:v>
                </c:pt>
                <c:pt idx="1">
                  <c:v>82</c:v>
                </c:pt>
                <c:pt idx="2">
                  <c:v>66</c:v>
                </c:pt>
                <c:pt idx="3">
                  <c:v>51</c:v>
                </c:pt>
                <c:pt idx="4">
                  <c:v>38</c:v>
                </c:pt>
                <c:pt idx="5">
                  <c:v>27</c:v>
                </c:pt>
                <c:pt idx="6">
                  <c:v>18</c:v>
                </c:pt>
              </c:numCache>
            </c:numRef>
          </c:val>
          <c:smooth val="0"/>
        </c:ser>
        <c:ser>
          <c:idx val="1"/>
          <c:order val="1"/>
          <c:tx>
            <c:strRef>
              <c:f>Sheet1!$C$1</c:f>
              <c:strCache>
                <c:ptCount val="1"/>
                <c:pt idx="0">
                  <c:v>AgriPredict Guided Cold-Chain</c:v>
                </c:pt>
              </c:strCache>
            </c:strRef>
          </c:tx>
          <c:spPr>
            <a:solidFill>
              <a:srgbClr val="15803D"/>
            </a:solidFill>
            <a:ln w="31750" cap="flat">
              <a:solidFill>
                <a:srgbClr val="15803D"/>
              </a:solidFill>
              <a:prstDash val="solid"/>
              <a:round/>
            </a:ln>
            <a:effectLst/>
          </c:spPr>
          <c:invertIfNegative val="0"/>
          <c:dLbls>
            <c:numFmt formatCode="#,##0" sourceLinked="0"/>
            <c:txPr>
              <a:bodyPr/>
              <a:lstStyle/>
              <a:p>
                <a:pPr>
                  <a:defRPr b="0" i="0" strike="noStrike" sz="1200" u="none">
                    <a:solidFill>
                      <a:srgbClr val="1E293B"/>
                    </a:solidFill>
                    <a:latin typeface="Arial"/>
                  </a:defRPr>
                </a:pPr>
              </a:p>
            </c:txPr>
            <c:showLegendKey val="0"/>
            <c:showVal val="0"/>
            <c:showCatName val="0"/>
            <c:showSerName val="0"/>
            <c:showPercent val="0"/>
            <c:showBubbleSize val="0"/>
            <c:showLeaderLines val="0"/>
          </c:dLbls>
          <c:marker>
            <c:symbol val="circle"/>
            <c:size val="5"/>
            <c:spPr>
              <a:solidFill>
                <a:srgbClr val="15803D"/>
              </a:solidFill>
              <a:ln w="9525" cap="flat">
                <a:solidFill>
                  <a:srgbClr val="15803D"/>
                </a:solidFill>
                <a:prstDash val="solid"/>
                <a:round/>
              </a:ln>
              <a:effectLst/>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Sheet1!$C$2:$C$8</c:f>
              <c:numCache>
                <c:formatCode>General</c:formatCode>
                <c:ptCount val="7"/>
                <c:pt idx="0">
                  <c:v>100</c:v>
                </c:pt>
                <c:pt idx="1">
                  <c:v>95</c:v>
                </c:pt>
                <c:pt idx="2">
                  <c:v>89</c:v>
                </c:pt>
                <c:pt idx="3">
                  <c:v>83</c:v>
                </c:pt>
                <c:pt idx="4">
                  <c:v>77</c:v>
                </c:pt>
                <c:pt idx="5">
                  <c:v>71</c:v>
                </c:pt>
                <c:pt idx="6">
                  <c:v>65</c:v>
                </c:pt>
              </c:numCache>
            </c:numRef>
          </c:val>
          <c:smooth val="0"/>
        </c:ser>
        <c:dLbls>
          <c:numFmt formatCode="#,##0" sourceLinked="0"/>
          <c:txPr>
            <a:bodyPr/>
            <a:lstStyle/>
            <a:p>
              <a:pPr>
                <a:defRPr b="0" i="0" strike="noStrike" sz="1200" u="none">
                  <a:solidFill>
                    <a:srgbClr val="1E293B"/>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Days Since Harvest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2E8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Quality Retained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We are AgriPredict AI Engine — an AI-driven decision layer for perishable-crop supply chains. In the next few minutes we'll show two things at once: a business that can scale as a B2B marketplace, and a technical system built on real forecasting and optimization algorithms. Our core promise is simple — help farmers decide WHEN to sell, WHERE to sell, and WHETHER cold storage is worth it, using data instead of guesswork. Post-harvest loss and distress selling quietly destroy a huge share of farm income every year, and that is the problem we built this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linked problems. First, price crashes: when everyone harvests at once, local mandis flood and farmers sell at a loss just to avoid spoilage — often losing a quarter to nearly half the crop's value. Second, even when cold storage exists, farmers have no reliable way to know if paying for storage and transport will actually pay off later, so the option goes unused. Third, roughly a fifth to a third of fresh produce simply rots because transport and storage aren't coordinated with market timing. Put together: farmers are structurally price takers. That's the asymmetry we're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surface. Under the hood we forecast prices 7, 14 and 30 days out per crop and mandi, then run those forecasts through a cold-storage arbitrage calculator — net gain equals the deferred price, minus decay, minus storage and transit costs. When the math favors waiting, the farmer sees a clear 'hold' recommendation with a concrete profit delta, like the +28 percent shown here. Where storage doesn't pay off, we instead route the farmer to a matched institutional buyer. It's designed to be a single decision, not a dashboard full of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evaluators: data enters through three sources — weather APIs, historical mandi spot-rate time series stored in TimescaleDB, and satellite-derived crop signals. That feeds our AI core, which does two distinct jobs: a Prophet/XGBoost time-series forecaster predicts future spot prices, and a separate constraint solver — built around Dijkstra's algorithm — finds the cheapest feasible route from farm to cold storage to buyer. Results are pushed to a mobile app, web app, and a WhatsApp bot for farmers who don't have smartphones with data plans. The stack is deliberately lightweight: FastAPI, React, TimescaleDB, and a custom graph 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algorithms sit behind every recommendation. The first is a profit model: delta P equals the forecasted future spot price, discounted for expected decay, minus what the farmer would get today plus storage and transit costs. If delta P is positive, we recommend holding. The second is a routing problem — treating farms, cold-storage facilities and buyer hubs as nodes in a weighted graph, we run Dijkstra's algorithm to find the cheapest path by combined cost of distance, tolls and handling fees, not just distance. In this example the algorithm finds a path costing 10 units versus 14 for a naive direct route — a 29 percent saving before we even get to the pricing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headline numbers: farmers using our hold/sell/route recommendations realize 18 to 32 percent more net revenue than farmers selling immediately at harvest, and we cut post-harvest spoilage by 40 to 60 percent. The chart on the right shows why — under standard, uncoordinated storage, produce quality falls off sharply, down to about 18 percent retained by day 30. Under our guided cold-chain strategy — which times storage duration and transit against our forecasts — quality retention stays well above 60 percent over the same window. That gap is where the extra revenue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revenue model layers three streams so we're not dependent on any single one. Primary revenue comes from a marketplace commission of 1.5 to 3 percent whenever a farmer sells directly to a corporate or institutional buyer through the platform — this scales directly with transaction volume. Second, cold-storage facility operators pay a monthly SaaS subscription to list capacity and receive automated bookings from our demand-matching engine. Third, once we have scale, anonymized yield and price-trend data becomes a valuable API product for banks doing agri-lending and insurers pricing crop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global agritech and supply-chain analytics market is already over 22 billion dollars, and growing as more of agriculture digitizes. Within that, the regional market for horticultural and perishable-produce supply chains specifically — where spoilage and timing matter most — is about 4.5 billion dollars. Our initial go-to-market beachhead is smallholder cooperatives and commercial horticulture farms, a serviceable obtainable market of roughly 150 million dollars, which gives us a concrete, reachable first foothold before expanding into adjacent crop categories and geographies.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is aimed squarely at the technical evaluators. Traditional mandi brokers offer none of this algorithmically — their pricing knowledge is informal and self-interested. Generic weather apps give you forecasts but no market or logistics intelligence at all. AgriPredict is the only option that combines spot-price forecasting, a cold-storage arbitrage calculation, Dijkstra-based route planning, and — importantly — offline and zero-key accessibility through the WhatsApp bot, so farmers without smartphone data plans or app logins are not excluded from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currently at Phase 1 — a working prototype with in-memory forecasting, a functioning Dijkstra routing engine, and a simulated arbitrage calculator, which is what today's demo is built on. Phase 2 takes this to real scale: natural-language WhatsApp interaction, a direct booking API into cold-storage facility partners, and computer-vision-based crop grading to automate quality assessment. Phase 3 turns this into a full agri-fintech ecosystem with parametric crop insurance and smart-contract escrow for buyer-farmer payments. We're looking for partners — investors and technical collaborators alike — to help us get there. Join us in reshaping agricultural supply chains, and let's make farming predictable and profitable.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2.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9-2.png"/><Relationship Id="rId10" Type="http://schemas.openxmlformats.org/officeDocument/2006/relationships/image" Target="../media/image-9-1.png"/><Relationship Id="rId11" Type="http://schemas.openxmlformats.org/officeDocument/2006/relationships/image" Target="../media/image-9-1.png"/><Relationship Id="rId12" Type="http://schemas.openxmlformats.org/officeDocument/2006/relationships/image" Target="../media/image-9-2.pn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638648" y="1051560"/>
            <a:ext cx="914400" cy="914400"/>
          </a:xfrm>
          <a:prstGeom prst="ellipse">
            <a:avLst/>
          </a:prstGeom>
          <a:solidFill>
            <a:srgbClr val="15321F"/>
          </a:solidFill>
          <a:ln/>
        </p:spPr>
      </p:sp>
      <p:pic>
        <p:nvPicPr>
          <p:cNvPr id="3" name="Image 0" descr="/home/claude/agripredict/icons/sun.png">    </p:cNvPr>
          <p:cNvPicPr>
            <a:picLocks noChangeAspect="1"/>
          </p:cNvPicPr>
          <p:nvPr/>
        </p:nvPicPr>
        <p:blipFill>
          <a:blip r:embed="rId1"/>
          <a:stretch>
            <a:fillRect/>
          </a:stretch>
        </p:blipFill>
        <p:spPr>
          <a:xfrm>
            <a:off x="5762092" y="1175004"/>
            <a:ext cx="667512" cy="667512"/>
          </a:xfrm>
          <a:prstGeom prst="rect">
            <a:avLst/>
          </a:prstGeom>
        </p:spPr>
      </p:pic>
      <p:sp>
        <p:nvSpPr>
          <p:cNvPr id="4" name="Text 1"/>
          <p:cNvSpPr/>
          <p:nvPr/>
        </p:nvSpPr>
        <p:spPr>
          <a:xfrm>
            <a:off x="731520" y="2148840"/>
            <a:ext cx="10728655"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AgriPredict AI Engine</a:t>
            </a:r>
            <a:endParaRPr lang="en-US" sz="4600" dirty="0"/>
          </a:p>
        </p:txBody>
      </p:sp>
      <p:sp>
        <p:nvSpPr>
          <p:cNvPr id="5" name="Text 2"/>
          <p:cNvSpPr/>
          <p:nvPr/>
        </p:nvSpPr>
        <p:spPr>
          <a:xfrm>
            <a:off x="1188720" y="3200400"/>
            <a:ext cx="9814255" cy="822960"/>
          </a:xfrm>
          <a:prstGeom prst="rect">
            <a:avLst/>
          </a:prstGeom>
          <a:noFill/>
          <a:ln/>
        </p:spPr>
        <p:txBody>
          <a:bodyPr wrap="square" lIns="0" tIns="0" rIns="0" bIns="0" rtlCol="0" anchor="ctr"/>
          <a:lstStyle/>
          <a:p>
            <a:pPr algn="ctr" indent="0" marL="0">
              <a:lnSpc>
                <a:spcPct val="120000"/>
              </a:lnSpc>
              <a:buNone/>
            </a:pPr>
            <a:r>
              <a:rPr lang="en-US" sz="1600" dirty="0">
                <a:solidFill>
                  <a:srgbClr val="CBD5E1"/>
                </a:solidFill>
                <a:latin typeface="Calibri" pitchFamily="34" charset="0"/>
                <a:ea typeface="Calibri" pitchFamily="34" charset="-122"/>
                <a:cs typeface="Calibri" pitchFamily="34" charset="-120"/>
              </a:rPr>
              <a:t>Maximizing Farmer Revenue &amp; Reducing Post-Harvest Loss Through</a:t>
            </a:r>
            <a:endParaRPr lang="en-US" sz="1600" dirty="0"/>
          </a:p>
          <a:p>
            <a:pPr algn="ctr" indent="0" marL="0">
              <a:lnSpc>
                <a:spcPct val="120000"/>
              </a:lnSpc>
              <a:buNone/>
            </a:pPr>
            <a:r>
              <a:rPr lang="en-US" sz="1600" dirty="0">
                <a:solidFill>
                  <a:srgbClr val="CBD5E1"/>
                </a:solidFill>
                <a:latin typeface="Calibri" pitchFamily="34" charset="0"/>
                <a:ea typeface="Calibri" pitchFamily="34" charset="-122"/>
                <a:cs typeface="Calibri" pitchFamily="34" charset="-120"/>
              </a:rPr>
              <a:t>Dynamic AI Decision Models &amp; Cold-Storage Arbitrage</a:t>
            </a:r>
            <a:endParaRPr lang="en-US" sz="1600" dirty="0"/>
          </a:p>
        </p:txBody>
      </p:sp>
      <p:sp>
        <p:nvSpPr>
          <p:cNvPr id="6" name="Shape 3"/>
          <p:cNvSpPr/>
          <p:nvPr/>
        </p:nvSpPr>
        <p:spPr>
          <a:xfrm>
            <a:off x="5547208" y="4251960"/>
            <a:ext cx="1097280" cy="0"/>
          </a:xfrm>
          <a:prstGeom prst="line">
            <a:avLst/>
          </a:prstGeom>
          <a:noFill/>
          <a:ln w="25400">
            <a:solidFill>
              <a:srgbClr val="D97706"/>
            </a:solidFill>
            <a:prstDash val="solid"/>
          </a:ln>
        </p:spPr>
      </p:sp>
      <p:sp>
        <p:nvSpPr>
          <p:cNvPr id="7" name="Text 4"/>
          <p:cNvSpPr/>
          <p:nvPr/>
        </p:nvSpPr>
        <p:spPr>
          <a:xfrm>
            <a:off x="914400" y="5943600"/>
            <a:ext cx="10362895" cy="32004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Presented by </a:t>
            </a:r>
            <a:pPr algn="ctr" indent="0" marL="0">
              <a:buNone/>
            </a:pPr>
            <a:r>
              <a:rPr lang="en-US" sz="1200" b="1" dirty="0">
                <a:solidFill>
                  <a:srgbClr val="FFFFFF"/>
                </a:solidFill>
                <a:latin typeface="Calibri" pitchFamily="34" charset="0"/>
                <a:ea typeface="Calibri" pitchFamily="34" charset="-122"/>
                <a:cs typeface="Calibri" pitchFamily="34" charset="-120"/>
              </a:rPr>
              <a:t>Founding Team, AgriPredict AI Engine</a:t>
            </a:r>
            <a:endParaRPr lang="en-US" sz="1200" dirty="0"/>
          </a:p>
        </p:txBody>
      </p:sp>
      <p:sp>
        <p:nvSpPr>
          <p:cNvPr id="8" name="Text 5"/>
          <p:cNvSpPr/>
          <p:nvPr/>
        </p:nvSpPr>
        <p:spPr>
          <a:xfrm>
            <a:off x="914400" y="6263640"/>
            <a:ext cx="10362895" cy="27432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September 2026  •  contact@agripredict.ai  •  agripredict.ai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algn="l" indent="0" marL="0">
              <a:buNone/>
            </a:pPr>
            <a:r>
              <a:rPr lang="en-US" sz="3000" b="1" dirty="0">
                <a:solidFill>
                  <a:srgbClr val="1E293B"/>
                </a:solidFill>
                <a:latin typeface="Cambria" pitchFamily="34" charset="0"/>
                <a:ea typeface="Cambria" pitchFamily="34" charset="-122"/>
                <a:cs typeface="Cambria" pitchFamily="34" charset="-120"/>
              </a:rPr>
              <a:t>The Core Problem</a:t>
            </a:r>
            <a:endParaRPr lang="en-US" sz="3000" dirty="0"/>
          </a:p>
        </p:txBody>
      </p:sp>
      <p:sp>
        <p:nvSpPr>
          <p:cNvPr id="3" name="Text 1"/>
          <p:cNvSpPr/>
          <p:nvPr/>
        </p:nvSpPr>
        <p:spPr>
          <a:xfrm>
            <a:off x="548640" y="960120"/>
            <a:ext cx="11094415" cy="411480"/>
          </a:xfrm>
          <a:prstGeom prst="rect">
            <a:avLst/>
          </a:prstGeom>
          <a:noFill/>
          <a:ln/>
        </p:spPr>
        <p:txBody>
          <a:bodyPr wrap="square" lIns="0" tIns="0" rIns="0" bIns="0" rtlCol="0" anchor="ctr"/>
          <a:lstStyle/>
          <a:p>
            <a:pPr algn="l" indent="0" marL="0">
              <a:buNone/>
            </a:pPr>
            <a:r>
              <a:rPr lang="en-US" sz="1400" i="1" dirty="0">
                <a:solidFill>
                  <a:srgbClr val="64748B"/>
                </a:solidFill>
                <a:latin typeface="Calibri" pitchFamily="34" charset="0"/>
                <a:ea typeface="Calibri" pitchFamily="34" charset="-122"/>
                <a:cs typeface="Calibri" pitchFamily="34" charset="-120"/>
              </a:rPr>
              <a:t>Information asymmetry turns farmers into price takers, not price makers.</a:t>
            </a:r>
            <a:endParaRPr lang="en-US" sz="1400" dirty="0"/>
          </a:p>
        </p:txBody>
      </p:sp>
      <p:sp>
        <p:nvSpPr>
          <p:cNvPr id="4" name="Shape 2"/>
          <p:cNvSpPr/>
          <p:nvPr/>
        </p:nvSpPr>
        <p:spPr>
          <a:xfrm>
            <a:off x="838048" y="1737360"/>
            <a:ext cx="3291840" cy="3200400"/>
          </a:xfrm>
          <a:prstGeom prst="roundRect">
            <a:avLst>
              <a:gd name="adj" fmla="val 2286"/>
            </a:avLst>
          </a:prstGeom>
          <a:solidFill>
            <a:srgbClr val="FFFFFF"/>
          </a:solidFill>
          <a:ln w="12700">
            <a:solidFill>
              <a:srgbClr val="E2E8F0"/>
            </a:solidFill>
            <a:prstDash val="solid"/>
          </a:ln>
          <a:effectLst>
            <a:outerShdw sx="100000" sy="100000" kx="0" ky="0" algn="bl" rotWithShape="0" blurRad="101600" dist="38100" dir="5400000">
              <a:srgbClr val="1E293B">
                <a:alpha val="12000"/>
              </a:srgbClr>
            </a:outerShdw>
          </a:effectLst>
        </p:spPr>
      </p:sp>
      <p:sp>
        <p:nvSpPr>
          <p:cNvPr id="5" name="Shape 3"/>
          <p:cNvSpPr/>
          <p:nvPr/>
        </p:nvSpPr>
        <p:spPr>
          <a:xfrm>
            <a:off x="2118208" y="2103120"/>
            <a:ext cx="731520" cy="731520"/>
          </a:xfrm>
          <a:prstGeom prst="ellipse">
            <a:avLst/>
          </a:prstGeom>
          <a:solidFill>
            <a:srgbClr val="15803D"/>
          </a:solidFill>
          <a:ln/>
        </p:spPr>
      </p:sp>
      <p:pic>
        <p:nvPicPr>
          <p:cNvPr id="6" name="Image 0" descr="/home/claude/agripredict/icons/trend-down.png">    </p:cNvPr>
          <p:cNvPicPr>
            <a:picLocks noChangeAspect="1"/>
          </p:cNvPicPr>
          <p:nvPr/>
        </p:nvPicPr>
        <p:blipFill>
          <a:blip r:embed="rId1"/>
          <a:stretch>
            <a:fillRect/>
          </a:stretch>
        </p:blipFill>
        <p:spPr>
          <a:xfrm>
            <a:off x="2216963" y="2201875"/>
            <a:ext cx="534010" cy="534010"/>
          </a:xfrm>
          <a:prstGeom prst="rect">
            <a:avLst/>
          </a:prstGeom>
        </p:spPr>
      </p:pic>
      <p:sp>
        <p:nvSpPr>
          <p:cNvPr id="7" name="Text 4"/>
          <p:cNvSpPr/>
          <p:nvPr/>
        </p:nvSpPr>
        <p:spPr>
          <a:xfrm>
            <a:off x="1066648" y="3017520"/>
            <a:ext cx="2834640" cy="457200"/>
          </a:xfrm>
          <a:prstGeom prst="rect">
            <a:avLst/>
          </a:prstGeom>
          <a:noFill/>
          <a:ln/>
        </p:spPr>
        <p:txBody>
          <a:bodyPr wrap="square" lIns="0" tIns="0" rIns="0" bIns="0" rtlCol="0" anchor="ctr"/>
          <a:lstStyle/>
          <a:p>
            <a:pPr algn="ctr" indent="0" marL="0">
              <a:buNone/>
            </a:pPr>
            <a:r>
              <a:rPr lang="en-US" sz="1800" b="1" dirty="0">
                <a:solidFill>
                  <a:srgbClr val="1E293B"/>
                </a:solidFill>
                <a:latin typeface="Cambria" pitchFamily="34" charset="0"/>
                <a:ea typeface="Cambria" pitchFamily="34" charset="-122"/>
                <a:cs typeface="Cambria" pitchFamily="34" charset="-120"/>
              </a:rPr>
              <a:t>Price Crashes</a:t>
            </a:r>
            <a:endParaRPr lang="en-US" sz="1800" dirty="0"/>
          </a:p>
        </p:txBody>
      </p:sp>
      <p:sp>
        <p:nvSpPr>
          <p:cNvPr id="8" name="Text 5"/>
          <p:cNvSpPr/>
          <p:nvPr/>
        </p:nvSpPr>
        <p:spPr>
          <a:xfrm>
            <a:off x="1158088" y="3520440"/>
            <a:ext cx="2651760" cy="1280160"/>
          </a:xfrm>
          <a:prstGeom prst="rect">
            <a:avLst/>
          </a:prstGeom>
          <a:noFill/>
          <a:ln/>
        </p:spPr>
        <p:txBody>
          <a:bodyPr wrap="square" lIns="0" tIns="0" rIns="0" bIns="0"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Local market supply gluts force farmers into distress sales, losing 25–45% of crop value.</a:t>
            </a:r>
            <a:endParaRPr lang="en-US" sz="1350" dirty="0"/>
          </a:p>
        </p:txBody>
      </p:sp>
      <p:sp>
        <p:nvSpPr>
          <p:cNvPr id="9" name="Shape 6"/>
          <p:cNvSpPr/>
          <p:nvPr/>
        </p:nvSpPr>
        <p:spPr>
          <a:xfrm>
            <a:off x="4449928" y="1737360"/>
            <a:ext cx="3291840" cy="3200400"/>
          </a:xfrm>
          <a:prstGeom prst="roundRect">
            <a:avLst>
              <a:gd name="adj" fmla="val 2286"/>
            </a:avLst>
          </a:prstGeom>
          <a:solidFill>
            <a:srgbClr val="FFFFFF"/>
          </a:solidFill>
          <a:ln w="12700">
            <a:solidFill>
              <a:srgbClr val="E2E8F0"/>
            </a:solidFill>
            <a:prstDash val="solid"/>
          </a:ln>
          <a:effectLst>
            <a:outerShdw sx="100000" sy="100000" kx="0" ky="0" algn="bl" rotWithShape="0" blurRad="101600" dist="38100" dir="5400000">
              <a:srgbClr val="1E293B">
                <a:alpha val="12000"/>
              </a:srgbClr>
            </a:outerShdw>
          </a:effectLst>
        </p:spPr>
      </p:sp>
      <p:sp>
        <p:nvSpPr>
          <p:cNvPr id="10" name="Shape 7"/>
          <p:cNvSpPr/>
          <p:nvPr/>
        </p:nvSpPr>
        <p:spPr>
          <a:xfrm>
            <a:off x="5730088" y="2103120"/>
            <a:ext cx="731520" cy="731520"/>
          </a:xfrm>
          <a:prstGeom prst="ellipse">
            <a:avLst/>
          </a:prstGeom>
          <a:solidFill>
            <a:srgbClr val="15803D"/>
          </a:solidFill>
          <a:ln/>
        </p:spPr>
      </p:sp>
      <p:pic>
        <p:nvPicPr>
          <p:cNvPr id="11" name="Image 1" descr="/home/claude/agripredict/icons/eye-off.png">    </p:cNvPr>
          <p:cNvPicPr>
            <a:picLocks noChangeAspect="1"/>
          </p:cNvPicPr>
          <p:nvPr/>
        </p:nvPicPr>
        <p:blipFill>
          <a:blip r:embed="rId2"/>
          <a:stretch>
            <a:fillRect/>
          </a:stretch>
        </p:blipFill>
        <p:spPr>
          <a:xfrm>
            <a:off x="5828843" y="2201875"/>
            <a:ext cx="534010" cy="534010"/>
          </a:xfrm>
          <a:prstGeom prst="rect">
            <a:avLst/>
          </a:prstGeom>
        </p:spPr>
      </p:pic>
      <p:sp>
        <p:nvSpPr>
          <p:cNvPr id="12" name="Text 8"/>
          <p:cNvSpPr/>
          <p:nvPr/>
        </p:nvSpPr>
        <p:spPr>
          <a:xfrm>
            <a:off x="4678528" y="3017520"/>
            <a:ext cx="2834640" cy="457200"/>
          </a:xfrm>
          <a:prstGeom prst="rect">
            <a:avLst/>
          </a:prstGeom>
          <a:noFill/>
          <a:ln/>
        </p:spPr>
        <p:txBody>
          <a:bodyPr wrap="square" lIns="0" tIns="0" rIns="0" bIns="0" rtlCol="0" anchor="ctr"/>
          <a:lstStyle/>
          <a:p>
            <a:pPr algn="ctr" indent="0" marL="0">
              <a:buNone/>
            </a:pPr>
            <a:r>
              <a:rPr lang="en-US" sz="1800" b="1" dirty="0">
                <a:solidFill>
                  <a:srgbClr val="1E293B"/>
                </a:solidFill>
                <a:latin typeface="Cambria" pitchFamily="34" charset="0"/>
                <a:ea typeface="Cambria" pitchFamily="34" charset="-122"/>
                <a:cs typeface="Cambria" pitchFamily="34" charset="-120"/>
              </a:rPr>
              <a:t>Opaque Arbitrage</a:t>
            </a:r>
            <a:endParaRPr lang="en-US" sz="1800" dirty="0"/>
          </a:p>
        </p:txBody>
      </p:sp>
      <p:sp>
        <p:nvSpPr>
          <p:cNvPr id="13" name="Text 9"/>
          <p:cNvSpPr/>
          <p:nvPr/>
        </p:nvSpPr>
        <p:spPr>
          <a:xfrm>
            <a:off x="4769968" y="3520440"/>
            <a:ext cx="2651760" cy="1280160"/>
          </a:xfrm>
          <a:prstGeom prst="rect">
            <a:avLst/>
          </a:prstGeom>
          <a:noFill/>
          <a:ln/>
        </p:spPr>
        <p:txBody>
          <a:bodyPr wrap="square" lIns="0" tIns="0" rIns="0" bIns="0"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No visibility into whether cold-storage and transit costs actually yield a net profit.</a:t>
            </a:r>
            <a:endParaRPr lang="en-US" sz="1350" dirty="0"/>
          </a:p>
        </p:txBody>
      </p:sp>
      <p:sp>
        <p:nvSpPr>
          <p:cNvPr id="14" name="Shape 10"/>
          <p:cNvSpPr/>
          <p:nvPr/>
        </p:nvSpPr>
        <p:spPr>
          <a:xfrm>
            <a:off x="8061808" y="1737360"/>
            <a:ext cx="3291840" cy="3200400"/>
          </a:xfrm>
          <a:prstGeom prst="roundRect">
            <a:avLst>
              <a:gd name="adj" fmla="val 2286"/>
            </a:avLst>
          </a:prstGeom>
          <a:solidFill>
            <a:srgbClr val="FFFFFF"/>
          </a:solidFill>
          <a:ln w="12700">
            <a:solidFill>
              <a:srgbClr val="E2E8F0"/>
            </a:solidFill>
            <a:prstDash val="solid"/>
          </a:ln>
          <a:effectLst>
            <a:outerShdw sx="100000" sy="100000" kx="0" ky="0" algn="bl" rotWithShape="0" blurRad="101600" dist="38100" dir="5400000">
              <a:srgbClr val="1E293B">
                <a:alpha val="12000"/>
              </a:srgbClr>
            </a:outerShdw>
          </a:effectLst>
        </p:spPr>
      </p:sp>
      <p:sp>
        <p:nvSpPr>
          <p:cNvPr id="15" name="Shape 11"/>
          <p:cNvSpPr/>
          <p:nvPr/>
        </p:nvSpPr>
        <p:spPr>
          <a:xfrm>
            <a:off x="9341968" y="2103120"/>
            <a:ext cx="731520" cy="731520"/>
          </a:xfrm>
          <a:prstGeom prst="ellipse">
            <a:avLst/>
          </a:prstGeom>
          <a:solidFill>
            <a:srgbClr val="15803D"/>
          </a:solidFill>
          <a:ln/>
        </p:spPr>
      </p:sp>
      <p:pic>
        <p:nvPicPr>
          <p:cNvPr id="16" name="Image 2" descr="/home/claude/agripredict/icons/package.png">    </p:cNvPr>
          <p:cNvPicPr>
            <a:picLocks noChangeAspect="1"/>
          </p:cNvPicPr>
          <p:nvPr/>
        </p:nvPicPr>
        <p:blipFill>
          <a:blip r:embed="rId3"/>
          <a:stretch>
            <a:fillRect/>
          </a:stretch>
        </p:blipFill>
        <p:spPr>
          <a:xfrm>
            <a:off x="9440723" y="2201875"/>
            <a:ext cx="534010" cy="534010"/>
          </a:xfrm>
          <a:prstGeom prst="rect">
            <a:avLst/>
          </a:prstGeom>
        </p:spPr>
      </p:pic>
      <p:sp>
        <p:nvSpPr>
          <p:cNvPr id="17" name="Text 12"/>
          <p:cNvSpPr/>
          <p:nvPr/>
        </p:nvSpPr>
        <p:spPr>
          <a:xfrm>
            <a:off x="8290408" y="3017520"/>
            <a:ext cx="2834640" cy="457200"/>
          </a:xfrm>
          <a:prstGeom prst="rect">
            <a:avLst/>
          </a:prstGeom>
          <a:noFill/>
          <a:ln/>
        </p:spPr>
        <p:txBody>
          <a:bodyPr wrap="square" lIns="0" tIns="0" rIns="0" bIns="0" rtlCol="0" anchor="ctr"/>
          <a:lstStyle/>
          <a:p>
            <a:pPr algn="ctr" indent="0" marL="0">
              <a:buNone/>
            </a:pPr>
            <a:r>
              <a:rPr lang="en-US" sz="1800" b="1" dirty="0">
                <a:solidFill>
                  <a:srgbClr val="1E293B"/>
                </a:solidFill>
                <a:latin typeface="Cambria" pitchFamily="34" charset="0"/>
                <a:ea typeface="Cambria" pitchFamily="34" charset="-122"/>
                <a:cs typeface="Cambria" pitchFamily="34" charset="-120"/>
              </a:rPr>
              <a:t>Post-Harvest Wastage</a:t>
            </a:r>
            <a:endParaRPr lang="en-US" sz="1800" dirty="0"/>
          </a:p>
        </p:txBody>
      </p:sp>
      <p:sp>
        <p:nvSpPr>
          <p:cNvPr id="18" name="Text 13"/>
          <p:cNvSpPr/>
          <p:nvPr/>
        </p:nvSpPr>
        <p:spPr>
          <a:xfrm>
            <a:off x="8381848" y="3520440"/>
            <a:ext cx="2651760" cy="1280160"/>
          </a:xfrm>
          <a:prstGeom prst="rect">
            <a:avLst/>
          </a:prstGeom>
          <a:noFill/>
          <a:ln/>
        </p:spPr>
        <p:txBody>
          <a:bodyPr wrap="square" lIns="0" tIns="0" rIns="0" bIns="0"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20–35% of fresh horticultural produce rots post-harvest due to uncoordinated transport.</a:t>
            </a:r>
            <a:endParaRPr lang="en-US" sz="1350" dirty="0"/>
          </a:p>
        </p:txBody>
      </p:sp>
      <p:sp>
        <p:nvSpPr>
          <p:cNvPr id="19" name="Shape 14"/>
          <p:cNvSpPr/>
          <p:nvPr/>
        </p:nvSpPr>
        <p:spPr>
          <a:xfrm>
            <a:off x="838048" y="5257800"/>
            <a:ext cx="10515600" cy="640080"/>
          </a:xfrm>
          <a:prstGeom prst="roundRect">
            <a:avLst>
              <a:gd name="adj" fmla="val 8571"/>
            </a:avLst>
          </a:prstGeom>
          <a:solidFill>
            <a:srgbClr val="15803D"/>
          </a:solidFill>
          <a:ln/>
        </p:spPr>
      </p:sp>
      <p:sp>
        <p:nvSpPr>
          <p:cNvPr id="20" name="Text 15"/>
          <p:cNvSpPr/>
          <p:nvPr/>
        </p:nvSpPr>
        <p:spPr>
          <a:xfrm>
            <a:off x="1112368" y="5257800"/>
            <a:ext cx="9966960" cy="640080"/>
          </a:xfrm>
          <a:prstGeom prst="rect">
            <a:avLst/>
          </a:prstGeom>
          <a:noFill/>
          <a:ln/>
        </p:spPr>
        <p:txBody>
          <a:bodyPr wrap="square" lIns="0" tIns="0" rIns="0" bIns="0" rtlCol="0" anchor="ctr"/>
          <a:lstStyle/>
          <a:p>
            <a:pPr algn="ctr" indent="0" marL="0">
              <a:buNone/>
            </a:pPr>
            <a:r>
              <a:rPr lang="en-US" sz="1600" b="1" i="1" dirty="0">
                <a:solidFill>
                  <a:srgbClr val="FFFFFF"/>
                </a:solidFill>
                <a:latin typeface="Cambria" pitchFamily="34" charset="0"/>
                <a:ea typeface="Cambria" pitchFamily="34" charset="-122"/>
                <a:cs typeface="Cambria" pitchFamily="34" charset="-120"/>
              </a:rPr>
              <a:t>"Farmers are price takers, not price makers."</a:t>
            </a:r>
            <a:endParaRPr lang="en-US" sz="1600" dirty="0"/>
          </a:p>
        </p:txBody>
      </p:sp>
      <p:sp>
        <p:nvSpPr>
          <p:cNvPr id="21" name="Text 16"/>
          <p:cNvSpPr/>
          <p:nvPr/>
        </p:nvSpPr>
        <p:spPr>
          <a:xfrm>
            <a:off x="457200" y="6492240"/>
            <a:ext cx="36576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AgriPredict AI Engine</a:t>
            </a:r>
            <a:endParaRPr lang="en-US" sz="900" dirty="0"/>
          </a:p>
        </p:txBody>
      </p:sp>
      <p:sp>
        <p:nvSpPr>
          <p:cNvPr id="22" name="Text 17"/>
          <p:cNvSpPr/>
          <p:nvPr/>
        </p:nvSpPr>
        <p:spPr>
          <a:xfrm>
            <a:off x="11002975" y="6492240"/>
            <a:ext cx="7315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algn="l" indent="0" marL="0">
              <a:buNone/>
            </a:pPr>
            <a:r>
              <a:rPr lang="en-US" sz="3000" b="1" dirty="0">
                <a:solidFill>
                  <a:srgbClr val="1E293B"/>
                </a:solidFill>
                <a:latin typeface="Cambria" pitchFamily="34" charset="0"/>
                <a:ea typeface="Cambria" pitchFamily="34" charset="-122"/>
                <a:cs typeface="Cambria" pitchFamily="34" charset="-120"/>
              </a:rPr>
              <a:t>The Solution</a:t>
            </a:r>
            <a:endParaRPr lang="en-US" sz="3000" dirty="0"/>
          </a:p>
        </p:txBody>
      </p:sp>
      <p:sp>
        <p:nvSpPr>
          <p:cNvPr id="3" name="Text 1"/>
          <p:cNvSpPr/>
          <p:nvPr/>
        </p:nvSpPr>
        <p:spPr>
          <a:xfrm>
            <a:off x="548640" y="960120"/>
            <a:ext cx="11094415" cy="411480"/>
          </a:xfrm>
          <a:prstGeom prst="rect">
            <a:avLst/>
          </a:prstGeom>
          <a:noFill/>
          <a:ln/>
        </p:spPr>
        <p:txBody>
          <a:bodyPr wrap="square" lIns="0" tIns="0" rIns="0" bIns="0" rtlCol="0" anchor="ctr"/>
          <a:lstStyle/>
          <a:p>
            <a:pPr algn="l" indent="0" marL="0">
              <a:buNone/>
            </a:pPr>
            <a:r>
              <a:rPr lang="en-US" sz="1400" i="1" dirty="0">
                <a:solidFill>
                  <a:srgbClr val="64748B"/>
                </a:solidFill>
                <a:latin typeface="Calibri" pitchFamily="34" charset="0"/>
                <a:ea typeface="Calibri" pitchFamily="34" charset="-122"/>
                <a:cs typeface="Calibri" pitchFamily="34" charset="-120"/>
              </a:rPr>
              <a:t>AgriPredict AI Decision Engine turns market noise into a clear sell / hold recommendation.</a:t>
            </a:r>
            <a:endParaRPr lang="en-US" sz="1400" dirty="0"/>
          </a:p>
        </p:txBody>
      </p:sp>
      <p:sp>
        <p:nvSpPr>
          <p:cNvPr id="4" name="Shape 2"/>
          <p:cNvSpPr/>
          <p:nvPr/>
        </p:nvSpPr>
        <p:spPr>
          <a:xfrm>
            <a:off x="548640" y="1828800"/>
            <a:ext cx="566928" cy="566928"/>
          </a:xfrm>
          <a:prstGeom prst="ellipse">
            <a:avLst/>
          </a:prstGeom>
          <a:solidFill>
            <a:srgbClr val="15803D"/>
          </a:solidFill>
          <a:ln/>
        </p:spPr>
      </p:sp>
      <p:pic>
        <p:nvPicPr>
          <p:cNvPr id="5" name="Image 0" descr="/home/claude/agripredict/icons/trend-up.png">    </p:cNvPr>
          <p:cNvPicPr>
            <a:picLocks noChangeAspect="1"/>
          </p:cNvPicPr>
          <p:nvPr/>
        </p:nvPicPr>
        <p:blipFill>
          <a:blip r:embed="rId1"/>
          <a:stretch>
            <a:fillRect/>
          </a:stretch>
        </p:blipFill>
        <p:spPr>
          <a:xfrm>
            <a:off x="625175" y="1905335"/>
            <a:ext cx="413857" cy="413857"/>
          </a:xfrm>
          <a:prstGeom prst="rect">
            <a:avLst/>
          </a:prstGeom>
        </p:spPr>
      </p:pic>
      <p:sp>
        <p:nvSpPr>
          <p:cNvPr id="6" name="Text 3"/>
          <p:cNvSpPr/>
          <p:nvPr/>
        </p:nvSpPr>
        <p:spPr>
          <a:xfrm>
            <a:off x="1280160" y="1783080"/>
            <a:ext cx="4846320" cy="32004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Real-Time Price Forecasting</a:t>
            </a:r>
            <a:endParaRPr lang="en-US" sz="1600" dirty="0"/>
          </a:p>
        </p:txBody>
      </p:sp>
      <p:sp>
        <p:nvSpPr>
          <p:cNvPr id="7" name="Text 4"/>
          <p:cNvSpPr/>
          <p:nvPr/>
        </p:nvSpPr>
        <p:spPr>
          <a:xfrm>
            <a:off x="1280160" y="2121408"/>
            <a:ext cx="4846320" cy="6400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T+7, T+14 and T+30 day market price trend predictions per crop and mandi.</a:t>
            </a:r>
            <a:endParaRPr lang="en-US" sz="1300" dirty="0"/>
          </a:p>
        </p:txBody>
      </p:sp>
      <p:sp>
        <p:nvSpPr>
          <p:cNvPr id="8" name="Shape 5"/>
          <p:cNvSpPr/>
          <p:nvPr/>
        </p:nvSpPr>
        <p:spPr>
          <a:xfrm>
            <a:off x="548640" y="3063240"/>
            <a:ext cx="566928" cy="566928"/>
          </a:xfrm>
          <a:prstGeom prst="ellipse">
            <a:avLst/>
          </a:prstGeom>
          <a:solidFill>
            <a:srgbClr val="15803D"/>
          </a:solidFill>
          <a:ln/>
        </p:spPr>
      </p:sp>
      <p:pic>
        <p:nvPicPr>
          <p:cNvPr id="9" name="Image 1" descr="/home/claude/agripredict/icons/dollar.png">    </p:cNvPr>
          <p:cNvPicPr>
            <a:picLocks noChangeAspect="1"/>
          </p:cNvPicPr>
          <p:nvPr/>
        </p:nvPicPr>
        <p:blipFill>
          <a:blip r:embed="rId2"/>
          <a:stretch>
            <a:fillRect/>
          </a:stretch>
        </p:blipFill>
        <p:spPr>
          <a:xfrm>
            <a:off x="625175" y="3139775"/>
            <a:ext cx="413857" cy="413857"/>
          </a:xfrm>
          <a:prstGeom prst="rect">
            <a:avLst/>
          </a:prstGeom>
        </p:spPr>
      </p:pic>
      <p:sp>
        <p:nvSpPr>
          <p:cNvPr id="10" name="Text 6"/>
          <p:cNvSpPr/>
          <p:nvPr/>
        </p:nvSpPr>
        <p:spPr>
          <a:xfrm>
            <a:off x="1280160" y="3017520"/>
            <a:ext cx="4846320" cy="32004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Cold-Storage Arbitrage Calculator</a:t>
            </a:r>
            <a:endParaRPr lang="en-US" sz="1600" dirty="0"/>
          </a:p>
        </p:txBody>
      </p:sp>
      <p:sp>
        <p:nvSpPr>
          <p:cNvPr id="11" name="Text 7"/>
          <p:cNvSpPr/>
          <p:nvPr/>
        </p:nvSpPr>
        <p:spPr>
          <a:xfrm>
            <a:off x="1280160" y="3355848"/>
            <a:ext cx="4846320" cy="6400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Net Gain = Deferred Price − Decay − Storage Costs − Transit Costs.</a:t>
            </a:r>
            <a:endParaRPr lang="en-US" sz="1300" dirty="0"/>
          </a:p>
        </p:txBody>
      </p:sp>
      <p:sp>
        <p:nvSpPr>
          <p:cNvPr id="12" name="Shape 8"/>
          <p:cNvSpPr/>
          <p:nvPr/>
        </p:nvSpPr>
        <p:spPr>
          <a:xfrm>
            <a:off x="548640" y="4297680"/>
            <a:ext cx="566928" cy="566928"/>
          </a:xfrm>
          <a:prstGeom prst="ellipse">
            <a:avLst/>
          </a:prstGeom>
          <a:solidFill>
            <a:srgbClr val="15803D"/>
          </a:solidFill>
          <a:ln/>
        </p:spPr>
      </p:sp>
      <p:pic>
        <p:nvPicPr>
          <p:cNvPr id="13" name="Image 2" descr="/home/claude/agripredict/icons/users.png">    </p:cNvPr>
          <p:cNvPicPr>
            <a:picLocks noChangeAspect="1"/>
          </p:cNvPicPr>
          <p:nvPr/>
        </p:nvPicPr>
        <p:blipFill>
          <a:blip r:embed="rId3"/>
          <a:stretch>
            <a:fillRect/>
          </a:stretch>
        </p:blipFill>
        <p:spPr>
          <a:xfrm>
            <a:off x="625175" y="4374215"/>
            <a:ext cx="413857" cy="413857"/>
          </a:xfrm>
          <a:prstGeom prst="rect">
            <a:avLst/>
          </a:prstGeom>
        </p:spPr>
      </p:pic>
      <p:sp>
        <p:nvSpPr>
          <p:cNvPr id="14" name="Text 9"/>
          <p:cNvSpPr/>
          <p:nvPr/>
        </p:nvSpPr>
        <p:spPr>
          <a:xfrm>
            <a:off x="1280160" y="4251960"/>
            <a:ext cx="4846320" cy="32004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Direct Buyer Matching</a:t>
            </a:r>
            <a:endParaRPr lang="en-US" sz="1600" dirty="0"/>
          </a:p>
        </p:txBody>
      </p:sp>
      <p:sp>
        <p:nvSpPr>
          <p:cNvPr id="15" name="Text 10"/>
          <p:cNvSpPr/>
          <p:nvPr/>
        </p:nvSpPr>
        <p:spPr>
          <a:xfrm>
            <a:off x="1280160" y="4590288"/>
            <a:ext cx="4846320" cy="6400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Connects farmers to institutional and corporate procurement, bypassing layered brokers.</a:t>
            </a:r>
            <a:endParaRPr lang="en-US" sz="1300" dirty="0"/>
          </a:p>
        </p:txBody>
      </p:sp>
      <p:sp>
        <p:nvSpPr>
          <p:cNvPr id="16" name="Shape 11"/>
          <p:cNvSpPr/>
          <p:nvPr/>
        </p:nvSpPr>
        <p:spPr>
          <a:xfrm>
            <a:off x="6583680" y="1783080"/>
            <a:ext cx="5029200" cy="3931920"/>
          </a:xfrm>
          <a:prstGeom prst="roundRect">
            <a:avLst>
              <a:gd name="adj" fmla="val 2326"/>
            </a:avLst>
          </a:prstGeom>
          <a:solidFill>
            <a:srgbClr val="1E293B"/>
          </a:solidFill>
          <a:ln/>
          <a:effectLst>
            <a:outerShdw sx="100000" sy="100000" kx="0" ky="0" algn="bl" rotWithShape="0" blurRad="152400" dist="50800" dir="5400000">
              <a:srgbClr val="000000">
                <a:alpha val="25000"/>
              </a:srgbClr>
            </a:outerShdw>
          </a:effectLst>
        </p:spPr>
      </p:sp>
      <p:sp>
        <p:nvSpPr>
          <p:cNvPr id="17" name="Text 12"/>
          <p:cNvSpPr/>
          <p:nvPr/>
        </p:nvSpPr>
        <p:spPr>
          <a:xfrm>
            <a:off x="6903720" y="2057400"/>
            <a:ext cx="438912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AgriPredict — Farm Advisory</a:t>
            </a:r>
            <a:endParaRPr lang="en-US" sz="1200" dirty="0"/>
          </a:p>
        </p:txBody>
      </p:sp>
      <p:sp>
        <p:nvSpPr>
          <p:cNvPr id="18" name="Text 13"/>
          <p:cNvSpPr/>
          <p:nvPr/>
        </p:nvSpPr>
        <p:spPr>
          <a:xfrm>
            <a:off x="6903720" y="2350008"/>
            <a:ext cx="438912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Tomato · Nashik Cluster</a:t>
            </a:r>
            <a:endParaRPr lang="en-US" sz="1800" dirty="0"/>
          </a:p>
        </p:txBody>
      </p:sp>
      <p:sp>
        <p:nvSpPr>
          <p:cNvPr id="19" name="Shape 14"/>
          <p:cNvSpPr/>
          <p:nvPr/>
        </p:nvSpPr>
        <p:spPr>
          <a:xfrm>
            <a:off x="6903720" y="2971800"/>
            <a:ext cx="4389120" cy="1234440"/>
          </a:xfrm>
          <a:prstGeom prst="roundRect">
            <a:avLst>
              <a:gd name="adj" fmla="val 5926"/>
            </a:avLst>
          </a:prstGeom>
          <a:solidFill>
            <a:srgbClr val="0B3D1F"/>
          </a:solidFill>
          <a:ln w="12700">
            <a:solidFill>
              <a:srgbClr val="15803D"/>
            </a:solidFill>
            <a:prstDash val="solid"/>
          </a:ln>
        </p:spPr>
      </p:sp>
      <p:sp>
        <p:nvSpPr>
          <p:cNvPr id="20" name="Text 15"/>
          <p:cNvSpPr/>
          <p:nvPr/>
        </p:nvSpPr>
        <p:spPr>
          <a:xfrm>
            <a:off x="7132320" y="3108960"/>
            <a:ext cx="3931920" cy="274320"/>
          </a:xfrm>
          <a:prstGeom prst="rect">
            <a:avLst/>
          </a:prstGeom>
          <a:noFill/>
          <a:ln/>
        </p:spPr>
        <p:txBody>
          <a:bodyPr wrap="square" lIns="0" tIns="0" rIns="0" bIns="0" rtlCol="0" anchor="ctr"/>
          <a:lstStyle/>
          <a:p>
            <a:pPr indent="0" marL="0">
              <a:buNone/>
            </a:pPr>
            <a:r>
              <a:rPr lang="en-US" sz="1100" b="1" spc="100" kern="0" dirty="0">
                <a:solidFill>
                  <a:srgbClr val="4ADE80"/>
                </a:solidFill>
                <a:latin typeface="Calibri" pitchFamily="34" charset="0"/>
                <a:ea typeface="Calibri" pitchFamily="34" charset="-122"/>
                <a:cs typeface="Calibri" pitchFamily="34" charset="-120"/>
              </a:rPr>
              <a:t>RECOMMENDED</a:t>
            </a:r>
            <a:endParaRPr lang="en-US" sz="1100" dirty="0"/>
          </a:p>
        </p:txBody>
      </p:sp>
      <p:sp>
        <p:nvSpPr>
          <p:cNvPr id="21" name="Text 16"/>
          <p:cNvSpPr/>
          <p:nvPr/>
        </p:nvSpPr>
        <p:spPr>
          <a:xfrm>
            <a:off x="7132320" y="3383280"/>
            <a:ext cx="39319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Hold in Storage for 10 Days</a:t>
            </a:r>
            <a:endParaRPr lang="en-US" sz="1700" dirty="0"/>
          </a:p>
        </p:txBody>
      </p:sp>
      <p:sp>
        <p:nvSpPr>
          <p:cNvPr id="22" name="Text 17"/>
          <p:cNvSpPr/>
          <p:nvPr/>
        </p:nvSpPr>
        <p:spPr>
          <a:xfrm>
            <a:off x="7132320" y="3749040"/>
            <a:ext cx="3931920" cy="320040"/>
          </a:xfrm>
          <a:prstGeom prst="rect">
            <a:avLst/>
          </a:prstGeom>
          <a:noFill/>
          <a:ln/>
        </p:spPr>
        <p:txBody>
          <a:bodyPr wrap="square" lIns="0" tIns="0" rIns="0" bIns="0" rtlCol="0" anchor="ctr"/>
          <a:lstStyle/>
          <a:p>
            <a:pPr indent="0" marL="0">
              <a:buNone/>
            </a:pPr>
            <a:r>
              <a:rPr lang="en-US" sz="1300" dirty="0">
                <a:solidFill>
                  <a:srgbClr val="86EFAC"/>
                </a:solidFill>
                <a:latin typeface="Calibri" pitchFamily="34" charset="0"/>
                <a:ea typeface="Calibri" pitchFamily="34" charset="-122"/>
                <a:cs typeface="Calibri" pitchFamily="34" charset="-120"/>
              </a:rPr>
              <a:t>+28% Net Profit vs. Selling Today</a:t>
            </a:r>
            <a:endParaRPr lang="en-US" sz="1300" dirty="0"/>
          </a:p>
        </p:txBody>
      </p:sp>
      <p:sp>
        <p:nvSpPr>
          <p:cNvPr id="23" name="Shape 18"/>
          <p:cNvSpPr/>
          <p:nvPr/>
        </p:nvSpPr>
        <p:spPr>
          <a:xfrm>
            <a:off x="6903720" y="4480560"/>
            <a:ext cx="1341120" cy="914400"/>
          </a:xfrm>
          <a:prstGeom prst="roundRect">
            <a:avLst>
              <a:gd name="adj" fmla="val 6000"/>
            </a:avLst>
          </a:prstGeom>
          <a:solidFill>
            <a:srgbClr val="0F172A"/>
          </a:solidFill>
          <a:ln w="12700">
            <a:solidFill>
              <a:srgbClr val="334155"/>
            </a:solidFill>
            <a:prstDash val="solid"/>
          </a:ln>
        </p:spPr>
      </p:sp>
      <p:sp>
        <p:nvSpPr>
          <p:cNvPr id="24" name="Text 19"/>
          <p:cNvSpPr/>
          <p:nvPr/>
        </p:nvSpPr>
        <p:spPr>
          <a:xfrm>
            <a:off x="6995160" y="4572000"/>
            <a:ext cx="115824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Spot Price</a:t>
            </a:r>
            <a:endParaRPr lang="en-US" sz="950" dirty="0"/>
          </a:p>
        </p:txBody>
      </p:sp>
      <p:sp>
        <p:nvSpPr>
          <p:cNvPr id="25" name="Text 20"/>
          <p:cNvSpPr/>
          <p:nvPr/>
        </p:nvSpPr>
        <p:spPr>
          <a:xfrm>
            <a:off x="6995160" y="4846320"/>
            <a:ext cx="115824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₹18.4/kg</a:t>
            </a:r>
            <a:endParaRPr lang="en-US" sz="1400" dirty="0"/>
          </a:p>
        </p:txBody>
      </p:sp>
      <p:sp>
        <p:nvSpPr>
          <p:cNvPr id="26" name="Shape 21"/>
          <p:cNvSpPr/>
          <p:nvPr/>
        </p:nvSpPr>
        <p:spPr>
          <a:xfrm>
            <a:off x="8427720" y="4480560"/>
            <a:ext cx="1341120" cy="914400"/>
          </a:xfrm>
          <a:prstGeom prst="roundRect">
            <a:avLst>
              <a:gd name="adj" fmla="val 6000"/>
            </a:avLst>
          </a:prstGeom>
          <a:solidFill>
            <a:srgbClr val="0F172A"/>
          </a:solidFill>
          <a:ln w="12700">
            <a:solidFill>
              <a:srgbClr val="334155"/>
            </a:solidFill>
            <a:prstDash val="solid"/>
          </a:ln>
        </p:spPr>
      </p:sp>
      <p:sp>
        <p:nvSpPr>
          <p:cNvPr id="27" name="Text 22"/>
          <p:cNvSpPr/>
          <p:nvPr/>
        </p:nvSpPr>
        <p:spPr>
          <a:xfrm>
            <a:off x="8519160" y="4572000"/>
            <a:ext cx="115824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T+10 Forecast</a:t>
            </a:r>
            <a:endParaRPr lang="en-US" sz="950" dirty="0"/>
          </a:p>
        </p:txBody>
      </p:sp>
      <p:sp>
        <p:nvSpPr>
          <p:cNvPr id="28" name="Text 23"/>
          <p:cNvSpPr/>
          <p:nvPr/>
        </p:nvSpPr>
        <p:spPr>
          <a:xfrm>
            <a:off x="8519160" y="4846320"/>
            <a:ext cx="115824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₹24.6/kg</a:t>
            </a:r>
            <a:endParaRPr lang="en-US" sz="1400" dirty="0"/>
          </a:p>
        </p:txBody>
      </p:sp>
      <p:sp>
        <p:nvSpPr>
          <p:cNvPr id="29" name="Shape 24"/>
          <p:cNvSpPr/>
          <p:nvPr/>
        </p:nvSpPr>
        <p:spPr>
          <a:xfrm>
            <a:off x="9951720" y="4480560"/>
            <a:ext cx="1341120" cy="914400"/>
          </a:xfrm>
          <a:prstGeom prst="roundRect">
            <a:avLst>
              <a:gd name="adj" fmla="val 6000"/>
            </a:avLst>
          </a:prstGeom>
          <a:solidFill>
            <a:srgbClr val="0F172A"/>
          </a:solidFill>
          <a:ln w="12700">
            <a:solidFill>
              <a:srgbClr val="334155"/>
            </a:solidFill>
            <a:prstDash val="solid"/>
          </a:ln>
        </p:spPr>
      </p:sp>
      <p:sp>
        <p:nvSpPr>
          <p:cNvPr id="30" name="Text 25"/>
          <p:cNvSpPr/>
          <p:nvPr/>
        </p:nvSpPr>
        <p:spPr>
          <a:xfrm>
            <a:off x="10043160" y="4572000"/>
            <a:ext cx="115824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Storage Cost</a:t>
            </a:r>
            <a:endParaRPr lang="en-US" sz="950" dirty="0"/>
          </a:p>
        </p:txBody>
      </p:sp>
      <p:sp>
        <p:nvSpPr>
          <p:cNvPr id="31" name="Text 26"/>
          <p:cNvSpPr/>
          <p:nvPr/>
        </p:nvSpPr>
        <p:spPr>
          <a:xfrm>
            <a:off x="10043160" y="4846320"/>
            <a:ext cx="115824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₹1.9/kg</a:t>
            </a:r>
            <a:endParaRPr lang="en-US" sz="1400" dirty="0"/>
          </a:p>
        </p:txBody>
      </p:sp>
      <p:sp>
        <p:nvSpPr>
          <p:cNvPr id="32" name="Text 27"/>
          <p:cNvSpPr/>
          <p:nvPr/>
        </p:nvSpPr>
        <p:spPr>
          <a:xfrm>
            <a:off x="457200" y="6492240"/>
            <a:ext cx="36576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AgriPredict AI Engine</a:t>
            </a:r>
            <a:endParaRPr lang="en-US" sz="900" dirty="0"/>
          </a:p>
        </p:txBody>
      </p:sp>
      <p:sp>
        <p:nvSpPr>
          <p:cNvPr id="33" name="Text 28"/>
          <p:cNvSpPr/>
          <p:nvPr/>
        </p:nvSpPr>
        <p:spPr>
          <a:xfrm>
            <a:off x="11002975" y="6492240"/>
            <a:ext cx="7315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algn="l" indent="0" marL="0">
              <a:buNone/>
            </a:pPr>
            <a:r>
              <a:rPr lang="en-US" sz="3000" b="1" dirty="0">
                <a:solidFill>
                  <a:srgbClr val="1E293B"/>
                </a:solidFill>
                <a:latin typeface="Cambria" pitchFamily="34" charset="0"/>
                <a:ea typeface="Cambria" pitchFamily="34" charset="-122"/>
                <a:cs typeface="Cambria" pitchFamily="34" charset="-120"/>
              </a:rPr>
              <a:t>System Architecture &amp; Data Flow</a:t>
            </a:r>
            <a:endParaRPr lang="en-US" sz="3000" dirty="0"/>
          </a:p>
        </p:txBody>
      </p:sp>
      <p:sp>
        <p:nvSpPr>
          <p:cNvPr id="3" name="Text 1"/>
          <p:cNvSpPr/>
          <p:nvPr/>
        </p:nvSpPr>
        <p:spPr>
          <a:xfrm>
            <a:off x="548640" y="960120"/>
            <a:ext cx="11094415" cy="411480"/>
          </a:xfrm>
          <a:prstGeom prst="rect">
            <a:avLst/>
          </a:prstGeom>
          <a:noFill/>
          <a:ln/>
        </p:spPr>
        <p:txBody>
          <a:bodyPr wrap="square" lIns="0" tIns="0" rIns="0" bIns="0" rtlCol="0" anchor="ctr"/>
          <a:lstStyle/>
          <a:p>
            <a:pPr algn="l" indent="0" marL="0">
              <a:buNone/>
            </a:pPr>
            <a:r>
              <a:rPr lang="en-US" sz="1400" i="1" dirty="0">
                <a:solidFill>
                  <a:srgbClr val="64748B"/>
                </a:solidFill>
                <a:latin typeface="Calibri" pitchFamily="34" charset="0"/>
                <a:ea typeface="Calibri" pitchFamily="34" charset="-122"/>
                <a:cs typeface="Calibri" pitchFamily="34" charset="-120"/>
              </a:rPr>
              <a:t>A three-tier pipeline: ingest market and environmental signals, model decisions, deliver to the farmer.</a:t>
            </a:r>
            <a:endParaRPr lang="en-US" sz="1400" dirty="0"/>
          </a:p>
        </p:txBody>
      </p:sp>
      <p:sp>
        <p:nvSpPr>
          <p:cNvPr id="4" name="Shape 2"/>
          <p:cNvSpPr/>
          <p:nvPr/>
        </p:nvSpPr>
        <p:spPr>
          <a:xfrm>
            <a:off x="632308" y="1783080"/>
            <a:ext cx="3429000" cy="3063240"/>
          </a:xfrm>
          <a:prstGeom prst="roundRect">
            <a:avLst>
              <a:gd name="adj" fmla="val 2388"/>
            </a:avLst>
          </a:prstGeom>
          <a:solidFill>
            <a:srgbClr val="FFFFFF"/>
          </a:solidFill>
          <a:ln w="12700">
            <a:solidFill>
              <a:srgbClr val="E2E8F0"/>
            </a:solidFill>
            <a:prstDash val="solid"/>
          </a:ln>
          <a:effectLst>
            <a:outerShdw sx="100000" sy="100000" kx="0" ky="0" algn="bl" rotWithShape="0" blurRad="101600" dist="38100" dir="5400000">
              <a:srgbClr val="1E293B">
                <a:alpha val="10000"/>
              </a:srgbClr>
            </a:outerShdw>
          </a:effectLst>
        </p:spPr>
      </p:sp>
      <p:sp>
        <p:nvSpPr>
          <p:cNvPr id="5" name="Shape 3"/>
          <p:cNvSpPr/>
          <p:nvPr/>
        </p:nvSpPr>
        <p:spPr>
          <a:xfrm>
            <a:off x="2026768" y="2057400"/>
            <a:ext cx="640080" cy="640080"/>
          </a:xfrm>
          <a:prstGeom prst="ellipse">
            <a:avLst/>
          </a:prstGeom>
          <a:solidFill>
            <a:srgbClr val="15803D"/>
          </a:solidFill>
          <a:ln/>
        </p:spPr>
      </p:sp>
      <p:pic>
        <p:nvPicPr>
          <p:cNvPr id="6" name="Image 0" descr="/home/claude/agripredict/icons/cloud.png">    </p:cNvPr>
          <p:cNvPicPr>
            <a:picLocks noChangeAspect="1"/>
          </p:cNvPicPr>
          <p:nvPr/>
        </p:nvPicPr>
        <p:blipFill>
          <a:blip r:embed="rId1"/>
          <a:stretch>
            <a:fillRect/>
          </a:stretch>
        </p:blipFill>
        <p:spPr>
          <a:xfrm>
            <a:off x="2113178" y="2143811"/>
            <a:ext cx="467258" cy="467258"/>
          </a:xfrm>
          <a:prstGeom prst="rect">
            <a:avLst/>
          </a:prstGeom>
        </p:spPr>
      </p:pic>
      <p:sp>
        <p:nvSpPr>
          <p:cNvPr id="7" name="Text 4"/>
          <p:cNvSpPr/>
          <p:nvPr/>
        </p:nvSpPr>
        <p:spPr>
          <a:xfrm>
            <a:off x="815188" y="2834640"/>
            <a:ext cx="3063240" cy="228600"/>
          </a:xfrm>
          <a:prstGeom prst="rect">
            <a:avLst/>
          </a:prstGeom>
          <a:noFill/>
          <a:ln/>
        </p:spPr>
        <p:txBody>
          <a:bodyPr wrap="square" lIns="0" tIns="0" rIns="0" bIns="0" rtlCol="0" anchor="ctr"/>
          <a:lstStyle/>
          <a:p>
            <a:pPr algn="ctr" indent="0" marL="0">
              <a:buNone/>
            </a:pPr>
            <a:r>
              <a:rPr lang="en-US" sz="1050" spc="100" kern="0" dirty="0">
                <a:solidFill>
                  <a:srgbClr val="64748B"/>
                </a:solidFill>
                <a:latin typeface="Calibri" pitchFamily="34" charset="0"/>
                <a:ea typeface="Calibri" pitchFamily="34" charset="-122"/>
                <a:cs typeface="Calibri" pitchFamily="34" charset="-120"/>
              </a:rPr>
              <a:t>Tier 1</a:t>
            </a:r>
            <a:endParaRPr lang="en-US" sz="1050" dirty="0"/>
          </a:p>
        </p:txBody>
      </p:sp>
      <p:sp>
        <p:nvSpPr>
          <p:cNvPr id="8" name="Text 5"/>
          <p:cNvSpPr/>
          <p:nvPr/>
        </p:nvSpPr>
        <p:spPr>
          <a:xfrm>
            <a:off x="815188" y="3081528"/>
            <a:ext cx="306324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Cambria" pitchFamily="34" charset="0"/>
                <a:ea typeface="Cambria" pitchFamily="34" charset="-122"/>
                <a:cs typeface="Cambria" pitchFamily="34" charset="-120"/>
              </a:rPr>
              <a:t>Ingestion Layer</a:t>
            </a:r>
            <a:endParaRPr lang="en-US" sz="1600" dirty="0"/>
          </a:p>
        </p:txBody>
      </p:sp>
      <p:sp>
        <p:nvSpPr>
          <p:cNvPr id="9" name="Text 6"/>
          <p:cNvSpPr/>
          <p:nvPr/>
        </p:nvSpPr>
        <p:spPr>
          <a:xfrm>
            <a:off x="952348" y="3520440"/>
            <a:ext cx="2788920" cy="1143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64748B"/>
                </a:solidFill>
                <a:latin typeface="Calibri" pitchFamily="34" charset="0"/>
                <a:ea typeface="Calibri" pitchFamily="34" charset="-122"/>
                <a:cs typeface="Calibri" pitchFamily="34" charset="-120"/>
              </a:rPr>
              <a:t>Open-Meteo Weather APIs</a:t>
            </a:r>
            <a:endParaRPr lang="en-US" sz="1150" dirty="0"/>
          </a:p>
          <a:p>
            <a:pPr marL="342900" indent="-342900">
              <a:spcAft>
                <a:spcPts val="600"/>
              </a:spcAft>
              <a:buSzPct val="100000"/>
              <a:buChar char="•"/>
            </a:pPr>
            <a:r>
              <a:rPr lang="en-US" sz="1150" dirty="0">
                <a:solidFill>
                  <a:srgbClr val="64748B"/>
                </a:solidFill>
                <a:latin typeface="Calibri" pitchFamily="34" charset="0"/>
                <a:ea typeface="Calibri" pitchFamily="34" charset="-122"/>
                <a:cs typeface="Calibri" pitchFamily="34" charset="-120"/>
              </a:rPr>
              <a:t>Historical Mandi Spot Rates (TimescaleDB)</a:t>
            </a:r>
            <a:endParaRPr lang="en-US" sz="1150" dirty="0"/>
          </a:p>
          <a:p>
            <a:pPr marL="342900" indent="-342900">
              <a:spcAft>
                <a:spcPts val="600"/>
              </a:spcAft>
              <a:buSzPct val="100000"/>
              <a:buChar char="•"/>
            </a:pPr>
            <a:r>
              <a:rPr lang="en-US" sz="1150" dirty="0">
                <a:solidFill>
                  <a:srgbClr val="64748B"/>
                </a:solidFill>
                <a:latin typeface="Calibri" pitchFamily="34" charset="0"/>
                <a:ea typeface="Calibri" pitchFamily="34" charset="-122"/>
                <a:cs typeface="Calibri" pitchFamily="34" charset="-120"/>
              </a:rPr>
              <a:t>Satellite Crop Data</a:t>
            </a:r>
            <a:endParaRPr lang="en-US" sz="1150" dirty="0"/>
          </a:p>
        </p:txBody>
      </p:sp>
      <p:sp>
        <p:nvSpPr>
          <p:cNvPr id="10" name="Shape 7"/>
          <p:cNvSpPr/>
          <p:nvPr/>
        </p:nvSpPr>
        <p:spPr>
          <a:xfrm>
            <a:off x="4097884" y="3195828"/>
            <a:ext cx="246888" cy="237744"/>
          </a:xfrm>
          <a:prstGeom prst="rightArrow">
            <a:avLst/>
          </a:prstGeom>
          <a:solidFill>
            <a:srgbClr val="D97706"/>
          </a:solidFill>
          <a:ln/>
        </p:spPr>
      </p:sp>
      <p:sp>
        <p:nvSpPr>
          <p:cNvPr id="11" name="Shape 8"/>
          <p:cNvSpPr/>
          <p:nvPr/>
        </p:nvSpPr>
        <p:spPr>
          <a:xfrm>
            <a:off x="4381348" y="1783080"/>
            <a:ext cx="3429000" cy="3063240"/>
          </a:xfrm>
          <a:prstGeom prst="roundRect">
            <a:avLst>
              <a:gd name="adj" fmla="val 2388"/>
            </a:avLst>
          </a:prstGeom>
          <a:solidFill>
            <a:srgbClr val="0F2B18"/>
          </a:solidFill>
          <a:ln w="12700">
            <a:solidFill>
              <a:srgbClr val="15803D"/>
            </a:solidFill>
            <a:prstDash val="solid"/>
          </a:ln>
          <a:effectLst>
            <a:outerShdw sx="100000" sy="100000" kx="0" ky="0" algn="bl" rotWithShape="0" blurRad="101600" dist="38100" dir="5400000">
              <a:srgbClr val="1E293B">
                <a:alpha val="10000"/>
              </a:srgbClr>
            </a:outerShdw>
          </a:effectLst>
        </p:spPr>
      </p:sp>
      <p:sp>
        <p:nvSpPr>
          <p:cNvPr id="12" name="Shape 9"/>
          <p:cNvSpPr/>
          <p:nvPr/>
        </p:nvSpPr>
        <p:spPr>
          <a:xfrm>
            <a:off x="5775808" y="2057400"/>
            <a:ext cx="640080" cy="640080"/>
          </a:xfrm>
          <a:prstGeom prst="ellipse">
            <a:avLst/>
          </a:prstGeom>
          <a:solidFill>
            <a:srgbClr val="D97706"/>
          </a:solidFill>
          <a:ln/>
        </p:spPr>
      </p:sp>
      <p:pic>
        <p:nvPicPr>
          <p:cNvPr id="13" name="Image 1" descr="/home/claude/agripredict/icons/cpu.png">    </p:cNvPr>
          <p:cNvPicPr>
            <a:picLocks noChangeAspect="1"/>
          </p:cNvPicPr>
          <p:nvPr/>
        </p:nvPicPr>
        <p:blipFill>
          <a:blip r:embed="rId2"/>
          <a:stretch>
            <a:fillRect/>
          </a:stretch>
        </p:blipFill>
        <p:spPr>
          <a:xfrm>
            <a:off x="5862218" y="2143811"/>
            <a:ext cx="467258" cy="467258"/>
          </a:xfrm>
          <a:prstGeom prst="rect">
            <a:avLst/>
          </a:prstGeom>
        </p:spPr>
      </p:pic>
      <p:sp>
        <p:nvSpPr>
          <p:cNvPr id="14" name="Text 10"/>
          <p:cNvSpPr/>
          <p:nvPr/>
        </p:nvSpPr>
        <p:spPr>
          <a:xfrm>
            <a:off x="4564228" y="2834640"/>
            <a:ext cx="3063240" cy="228600"/>
          </a:xfrm>
          <a:prstGeom prst="rect">
            <a:avLst/>
          </a:prstGeom>
          <a:noFill/>
          <a:ln/>
        </p:spPr>
        <p:txBody>
          <a:bodyPr wrap="square" lIns="0" tIns="0" rIns="0" bIns="0" rtlCol="0" anchor="ctr"/>
          <a:lstStyle/>
          <a:p>
            <a:pPr algn="ctr" indent="0" marL="0">
              <a:buNone/>
            </a:pPr>
            <a:r>
              <a:rPr lang="en-US" sz="1050" spc="100" kern="0" dirty="0">
                <a:solidFill>
                  <a:srgbClr val="94A3B8"/>
                </a:solidFill>
                <a:latin typeface="Calibri" pitchFamily="34" charset="0"/>
                <a:ea typeface="Calibri" pitchFamily="34" charset="-122"/>
                <a:cs typeface="Calibri" pitchFamily="34" charset="-120"/>
              </a:rPr>
              <a:t>Tier 2</a:t>
            </a:r>
            <a:endParaRPr lang="en-US" sz="1050" dirty="0"/>
          </a:p>
        </p:txBody>
      </p:sp>
      <p:sp>
        <p:nvSpPr>
          <p:cNvPr id="15" name="Text 11"/>
          <p:cNvSpPr/>
          <p:nvPr/>
        </p:nvSpPr>
        <p:spPr>
          <a:xfrm>
            <a:off x="4564228" y="3081528"/>
            <a:ext cx="30632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AI / ML Core</a:t>
            </a:r>
            <a:endParaRPr lang="en-US" sz="1600" dirty="0"/>
          </a:p>
        </p:txBody>
      </p:sp>
      <p:sp>
        <p:nvSpPr>
          <p:cNvPr id="16" name="Text 12"/>
          <p:cNvSpPr/>
          <p:nvPr/>
        </p:nvSpPr>
        <p:spPr>
          <a:xfrm>
            <a:off x="4701388" y="3520440"/>
            <a:ext cx="2788920" cy="1143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CBD5E1"/>
                </a:solidFill>
                <a:latin typeface="Calibri" pitchFamily="34" charset="0"/>
                <a:ea typeface="Calibri" pitchFamily="34" charset="-122"/>
                <a:cs typeface="Calibri" pitchFamily="34" charset="-120"/>
              </a:rPr>
              <a:t>Time-Series Forecasting (Prophet / XGBoost)</a:t>
            </a:r>
            <a:endParaRPr lang="en-US" sz="1150" dirty="0"/>
          </a:p>
          <a:p>
            <a:pPr marL="342900" indent="-342900">
              <a:spcAft>
                <a:spcPts val="600"/>
              </a:spcAft>
              <a:buSzPct val="100000"/>
              <a:buChar char="•"/>
            </a:pPr>
            <a:r>
              <a:rPr lang="en-US" sz="1150" dirty="0">
                <a:solidFill>
                  <a:srgbClr val="CBD5E1"/>
                </a:solidFill>
                <a:latin typeface="Calibri" pitchFamily="34" charset="0"/>
                <a:ea typeface="Calibri" pitchFamily="34" charset="-122"/>
                <a:cs typeface="Calibri" pitchFamily="34" charset="-120"/>
              </a:rPr>
              <a:t>Cold-Storage Constraint Solver</a:t>
            </a:r>
            <a:endParaRPr lang="en-US" sz="1150" dirty="0"/>
          </a:p>
          <a:p>
            <a:pPr marL="342900" indent="-342900">
              <a:spcAft>
                <a:spcPts val="600"/>
              </a:spcAft>
              <a:buSzPct val="100000"/>
              <a:buChar char="•"/>
            </a:pPr>
            <a:r>
              <a:rPr lang="en-US" sz="1150" dirty="0">
                <a:solidFill>
                  <a:srgbClr val="CBD5E1"/>
                </a:solidFill>
                <a:latin typeface="Calibri" pitchFamily="34" charset="0"/>
                <a:ea typeface="Calibri" pitchFamily="34" charset="-122"/>
                <a:cs typeface="Calibri" pitchFamily="34" charset="-120"/>
              </a:rPr>
              <a:t>Dijkstra's Algorithm Route Engine</a:t>
            </a:r>
            <a:endParaRPr lang="en-US" sz="1150" dirty="0"/>
          </a:p>
        </p:txBody>
      </p:sp>
      <p:sp>
        <p:nvSpPr>
          <p:cNvPr id="17" name="Shape 13"/>
          <p:cNvSpPr/>
          <p:nvPr/>
        </p:nvSpPr>
        <p:spPr>
          <a:xfrm>
            <a:off x="7846924" y="3195828"/>
            <a:ext cx="246888" cy="237744"/>
          </a:xfrm>
          <a:prstGeom prst="rightArrow">
            <a:avLst/>
          </a:prstGeom>
          <a:solidFill>
            <a:srgbClr val="D97706"/>
          </a:solidFill>
          <a:ln/>
        </p:spPr>
      </p:sp>
      <p:sp>
        <p:nvSpPr>
          <p:cNvPr id="18" name="Shape 14"/>
          <p:cNvSpPr/>
          <p:nvPr/>
        </p:nvSpPr>
        <p:spPr>
          <a:xfrm>
            <a:off x="8130388" y="1783080"/>
            <a:ext cx="3429000" cy="3063240"/>
          </a:xfrm>
          <a:prstGeom prst="roundRect">
            <a:avLst>
              <a:gd name="adj" fmla="val 2388"/>
            </a:avLst>
          </a:prstGeom>
          <a:solidFill>
            <a:srgbClr val="FFFFFF"/>
          </a:solidFill>
          <a:ln w="12700">
            <a:solidFill>
              <a:srgbClr val="E2E8F0"/>
            </a:solidFill>
            <a:prstDash val="solid"/>
          </a:ln>
          <a:effectLst>
            <a:outerShdw sx="100000" sy="100000" kx="0" ky="0" algn="bl" rotWithShape="0" blurRad="101600" dist="38100" dir="5400000">
              <a:srgbClr val="1E293B">
                <a:alpha val="10000"/>
              </a:srgbClr>
            </a:outerShdw>
          </a:effectLst>
        </p:spPr>
      </p:sp>
      <p:sp>
        <p:nvSpPr>
          <p:cNvPr id="19" name="Shape 15"/>
          <p:cNvSpPr/>
          <p:nvPr/>
        </p:nvSpPr>
        <p:spPr>
          <a:xfrm>
            <a:off x="9524848" y="2057400"/>
            <a:ext cx="640080" cy="640080"/>
          </a:xfrm>
          <a:prstGeom prst="ellipse">
            <a:avLst/>
          </a:prstGeom>
          <a:solidFill>
            <a:srgbClr val="15803D"/>
          </a:solidFill>
          <a:ln/>
        </p:spPr>
      </p:sp>
      <p:pic>
        <p:nvPicPr>
          <p:cNvPr id="20" name="Image 2" descr="/home/claude/agripredict/icons/smartphone.png">    </p:cNvPr>
          <p:cNvPicPr>
            <a:picLocks noChangeAspect="1"/>
          </p:cNvPicPr>
          <p:nvPr/>
        </p:nvPicPr>
        <p:blipFill>
          <a:blip r:embed="rId3"/>
          <a:stretch>
            <a:fillRect/>
          </a:stretch>
        </p:blipFill>
        <p:spPr>
          <a:xfrm>
            <a:off x="9611258" y="2143811"/>
            <a:ext cx="467258" cy="467258"/>
          </a:xfrm>
          <a:prstGeom prst="rect">
            <a:avLst/>
          </a:prstGeom>
        </p:spPr>
      </p:pic>
      <p:sp>
        <p:nvSpPr>
          <p:cNvPr id="21" name="Text 16"/>
          <p:cNvSpPr/>
          <p:nvPr/>
        </p:nvSpPr>
        <p:spPr>
          <a:xfrm>
            <a:off x="8313268" y="2834640"/>
            <a:ext cx="3063240" cy="228600"/>
          </a:xfrm>
          <a:prstGeom prst="rect">
            <a:avLst/>
          </a:prstGeom>
          <a:noFill/>
          <a:ln/>
        </p:spPr>
        <p:txBody>
          <a:bodyPr wrap="square" lIns="0" tIns="0" rIns="0" bIns="0" rtlCol="0" anchor="ctr"/>
          <a:lstStyle/>
          <a:p>
            <a:pPr algn="ctr" indent="0" marL="0">
              <a:buNone/>
            </a:pPr>
            <a:r>
              <a:rPr lang="en-US" sz="1050" spc="100" kern="0" dirty="0">
                <a:solidFill>
                  <a:srgbClr val="64748B"/>
                </a:solidFill>
                <a:latin typeface="Calibri" pitchFamily="34" charset="0"/>
                <a:ea typeface="Calibri" pitchFamily="34" charset="-122"/>
                <a:cs typeface="Calibri" pitchFamily="34" charset="-120"/>
              </a:rPr>
              <a:t>Tier 3</a:t>
            </a:r>
            <a:endParaRPr lang="en-US" sz="1050" dirty="0"/>
          </a:p>
        </p:txBody>
      </p:sp>
      <p:sp>
        <p:nvSpPr>
          <p:cNvPr id="22" name="Text 17"/>
          <p:cNvSpPr/>
          <p:nvPr/>
        </p:nvSpPr>
        <p:spPr>
          <a:xfrm>
            <a:off x="8313268" y="3081528"/>
            <a:ext cx="306324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Cambria" pitchFamily="34" charset="0"/>
                <a:ea typeface="Cambria" pitchFamily="34" charset="-122"/>
                <a:cs typeface="Cambria" pitchFamily="34" charset="-120"/>
              </a:rPr>
              <a:t>Delivery Layer</a:t>
            </a:r>
            <a:endParaRPr lang="en-US" sz="1600" dirty="0"/>
          </a:p>
        </p:txBody>
      </p:sp>
      <p:sp>
        <p:nvSpPr>
          <p:cNvPr id="23" name="Text 18"/>
          <p:cNvSpPr/>
          <p:nvPr/>
        </p:nvSpPr>
        <p:spPr>
          <a:xfrm>
            <a:off x="8450428" y="3520440"/>
            <a:ext cx="2788920" cy="1143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64748B"/>
                </a:solidFill>
                <a:latin typeface="Calibri" pitchFamily="34" charset="0"/>
                <a:ea typeface="Calibri" pitchFamily="34" charset="-122"/>
                <a:cs typeface="Calibri" pitchFamily="34" charset="-120"/>
              </a:rPr>
              <a:t>Mobile App</a:t>
            </a:r>
            <a:endParaRPr lang="en-US" sz="1150" dirty="0"/>
          </a:p>
          <a:p>
            <a:pPr marL="342900" indent="-342900">
              <a:spcAft>
                <a:spcPts val="600"/>
              </a:spcAft>
              <a:buSzPct val="100000"/>
              <a:buChar char="•"/>
            </a:pPr>
            <a:r>
              <a:rPr lang="en-US" sz="1150" dirty="0">
                <a:solidFill>
                  <a:srgbClr val="64748B"/>
                </a:solidFill>
                <a:latin typeface="Calibri" pitchFamily="34" charset="0"/>
                <a:ea typeface="Calibri" pitchFamily="34" charset="-122"/>
                <a:cs typeface="Calibri" pitchFamily="34" charset="-120"/>
              </a:rPr>
              <a:t>Web App</a:t>
            </a:r>
            <a:endParaRPr lang="en-US" sz="1150" dirty="0"/>
          </a:p>
          <a:p>
            <a:pPr marL="342900" indent="-342900">
              <a:spcAft>
                <a:spcPts val="600"/>
              </a:spcAft>
              <a:buSzPct val="100000"/>
              <a:buChar char="•"/>
            </a:pPr>
            <a:r>
              <a:rPr lang="en-US" sz="1150" dirty="0">
                <a:solidFill>
                  <a:srgbClr val="64748B"/>
                </a:solidFill>
                <a:latin typeface="Calibri" pitchFamily="34" charset="0"/>
                <a:ea typeface="Calibri" pitchFamily="34" charset="-122"/>
                <a:cs typeface="Calibri" pitchFamily="34" charset="-120"/>
              </a:rPr>
              <a:t>WhatsApp Bot — AgriBuddy AI Assistant</a:t>
            </a:r>
            <a:endParaRPr lang="en-US" sz="1150" dirty="0"/>
          </a:p>
        </p:txBody>
      </p:sp>
      <p:sp>
        <p:nvSpPr>
          <p:cNvPr id="24" name="Text 19"/>
          <p:cNvSpPr/>
          <p:nvPr/>
        </p:nvSpPr>
        <p:spPr>
          <a:xfrm>
            <a:off x="632308" y="5120640"/>
            <a:ext cx="10927080" cy="365760"/>
          </a:xfrm>
          <a:prstGeom prst="rect">
            <a:avLst/>
          </a:prstGeom>
          <a:noFill/>
          <a:ln/>
        </p:spPr>
        <p:txBody>
          <a:bodyPr wrap="square" lIns="0" tIns="0" rIns="0" bIns="0" rtlCol="0" anchor="ctr"/>
          <a:lstStyle/>
          <a:p>
            <a:pPr algn="ctr" indent="0" marL="0">
              <a:buNone/>
            </a:pPr>
            <a:r>
              <a:rPr lang="en-US" sz="1250" b="1" dirty="0">
                <a:solidFill>
                  <a:srgbClr val="1E293B"/>
                </a:solidFill>
                <a:latin typeface="Calibri" pitchFamily="34" charset="0"/>
                <a:ea typeface="Calibri" pitchFamily="34" charset="-122"/>
                <a:cs typeface="Calibri" pitchFamily="34" charset="-120"/>
              </a:rPr>
              <a:t>Stack:  </a:t>
            </a:r>
            <a:pPr algn="ctr" indent="0" marL="0">
              <a:buNone/>
            </a:pPr>
            <a:r>
              <a:rPr lang="en-US" sz="1250" dirty="0">
                <a:solidFill>
                  <a:srgbClr val="64748B"/>
                </a:solidFill>
                <a:latin typeface="Calibri" pitchFamily="34" charset="0"/>
                <a:ea typeface="Calibri" pitchFamily="34" charset="-122"/>
                <a:cs typeface="Calibri" pitchFamily="34" charset="-120"/>
              </a:rPr>
              <a:t>Python FastAPI   ·   React + Tailwind   ·   TimescaleDB   ·   Node Graph Solver</a:t>
            </a:r>
            <a:endParaRPr lang="en-US" sz="1250" dirty="0"/>
          </a:p>
        </p:txBody>
      </p:sp>
      <p:sp>
        <p:nvSpPr>
          <p:cNvPr id="25" name="Text 20"/>
          <p:cNvSpPr/>
          <p:nvPr/>
        </p:nvSpPr>
        <p:spPr>
          <a:xfrm>
            <a:off x="457200" y="6492240"/>
            <a:ext cx="36576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AgriPredict AI Engine</a:t>
            </a:r>
            <a:endParaRPr lang="en-US" sz="900" dirty="0"/>
          </a:p>
        </p:txBody>
      </p:sp>
      <p:sp>
        <p:nvSpPr>
          <p:cNvPr id="26" name="Text 21"/>
          <p:cNvSpPr/>
          <p:nvPr/>
        </p:nvSpPr>
        <p:spPr>
          <a:xfrm>
            <a:off x="11002975" y="6492240"/>
            <a:ext cx="7315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algn="l" indent="0" marL="0">
              <a:buNone/>
            </a:pPr>
            <a:r>
              <a:rPr lang="en-US" sz="3000" b="1" dirty="0">
                <a:solidFill>
                  <a:srgbClr val="1E293B"/>
                </a:solidFill>
                <a:latin typeface="Cambria" pitchFamily="34" charset="0"/>
                <a:ea typeface="Cambria" pitchFamily="34" charset="-122"/>
                <a:cs typeface="Cambria" pitchFamily="34" charset="-120"/>
              </a:rPr>
              <a:t>The Algorithms</a:t>
            </a:r>
            <a:endParaRPr lang="en-US" sz="3000" dirty="0"/>
          </a:p>
        </p:txBody>
      </p:sp>
      <p:sp>
        <p:nvSpPr>
          <p:cNvPr id="3" name="Text 1"/>
          <p:cNvSpPr/>
          <p:nvPr/>
        </p:nvSpPr>
        <p:spPr>
          <a:xfrm>
            <a:off x="548640" y="960120"/>
            <a:ext cx="11094415" cy="411480"/>
          </a:xfrm>
          <a:prstGeom prst="rect">
            <a:avLst/>
          </a:prstGeom>
          <a:noFill/>
          <a:ln/>
        </p:spPr>
        <p:txBody>
          <a:bodyPr wrap="square" lIns="0" tIns="0" rIns="0" bIns="0" rtlCol="0" anchor="ctr"/>
          <a:lstStyle/>
          <a:p>
            <a:pPr algn="l" indent="0" marL="0">
              <a:buNone/>
            </a:pPr>
            <a:r>
              <a:rPr lang="en-US" sz="1400" i="1" dirty="0">
                <a:solidFill>
                  <a:srgbClr val="64748B"/>
                </a:solidFill>
                <a:latin typeface="Calibri" pitchFamily="34" charset="0"/>
                <a:ea typeface="Calibri" pitchFamily="34" charset="-122"/>
                <a:cs typeface="Calibri" pitchFamily="34" charset="-120"/>
              </a:rPr>
              <a:t>Two engines decide the recommendation: a profit model and a shortest-path route solver.</a:t>
            </a:r>
            <a:endParaRPr lang="en-US" sz="1400" dirty="0"/>
          </a:p>
        </p:txBody>
      </p:sp>
      <p:sp>
        <p:nvSpPr>
          <p:cNvPr id="4" name="Shape 2"/>
          <p:cNvSpPr/>
          <p:nvPr/>
        </p:nvSpPr>
        <p:spPr>
          <a:xfrm>
            <a:off x="548640" y="1828800"/>
            <a:ext cx="5212080" cy="3931920"/>
          </a:xfrm>
          <a:prstGeom prst="roundRect">
            <a:avLst>
              <a:gd name="adj" fmla="val 1860"/>
            </a:avLst>
          </a:prstGeom>
          <a:solidFill>
            <a:srgbClr val="FFFFFF"/>
          </a:solidFill>
          <a:ln w="12700">
            <a:solidFill>
              <a:srgbClr val="E2E8F0"/>
            </a:solidFill>
            <a:prstDash val="solid"/>
          </a:ln>
        </p:spPr>
      </p:sp>
      <p:sp>
        <p:nvSpPr>
          <p:cNvPr id="5" name="Text 3"/>
          <p:cNvSpPr/>
          <p:nvPr/>
        </p:nvSpPr>
        <p:spPr>
          <a:xfrm>
            <a:off x="868680" y="2103120"/>
            <a:ext cx="4572000" cy="36576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Cold-Storage Arbitrage Profit Model</a:t>
            </a:r>
            <a:endParaRPr lang="en-US" sz="1600" dirty="0"/>
          </a:p>
        </p:txBody>
      </p:sp>
      <p:sp>
        <p:nvSpPr>
          <p:cNvPr id="6" name="Shape 4"/>
          <p:cNvSpPr/>
          <p:nvPr/>
        </p:nvSpPr>
        <p:spPr>
          <a:xfrm>
            <a:off x="868680" y="2697480"/>
            <a:ext cx="4572000" cy="1234440"/>
          </a:xfrm>
          <a:prstGeom prst="roundRect">
            <a:avLst>
              <a:gd name="adj" fmla="val 4444"/>
            </a:avLst>
          </a:prstGeom>
          <a:solidFill>
            <a:srgbClr val="0F172A"/>
          </a:solidFill>
          <a:ln/>
        </p:spPr>
      </p:sp>
      <p:sp>
        <p:nvSpPr>
          <p:cNvPr id="7" name="Text 5"/>
          <p:cNvSpPr/>
          <p:nvPr/>
        </p:nvSpPr>
        <p:spPr>
          <a:xfrm>
            <a:off x="1005840" y="2971800"/>
            <a:ext cx="4297680" cy="731520"/>
          </a:xfrm>
          <a:prstGeom prst="rect">
            <a:avLst/>
          </a:prstGeom>
          <a:noFill/>
          <a:ln/>
        </p:spPr>
        <p:txBody>
          <a:bodyPr wrap="square" lIns="0" tIns="0" rIns="0" bIns="0" rtlCol="0" anchor="ctr"/>
          <a:lstStyle/>
          <a:p>
            <a:pPr algn="ctr" indent="0" marL="0">
              <a:buNone/>
            </a:pPr>
            <a:r>
              <a:rPr lang="en-US" sz="1550" b="1" dirty="0">
                <a:solidFill>
                  <a:srgbClr val="4ADE80"/>
                </a:solidFill>
                <a:latin typeface="Consolas" pitchFamily="34" charset="0"/>
                <a:ea typeface="Consolas" pitchFamily="34" charset="-122"/>
                <a:cs typeface="Consolas" pitchFamily="34" charset="-120"/>
              </a:rPr>
              <a:t>ΔP  =  Ŝ(t+Δt) · (1 − decay)  −  [ S₀ + C_storage + C_transit ]</a:t>
            </a:r>
            <a:endParaRPr lang="en-US" sz="1550" dirty="0"/>
          </a:p>
        </p:txBody>
      </p:sp>
      <p:sp>
        <p:nvSpPr>
          <p:cNvPr id="8" name="Text 6"/>
          <p:cNvSpPr/>
          <p:nvPr/>
        </p:nvSpPr>
        <p:spPr>
          <a:xfrm>
            <a:off x="868680" y="4114800"/>
            <a:ext cx="4572000" cy="320040"/>
          </a:xfrm>
          <a:prstGeom prst="rect">
            <a:avLst/>
          </a:prstGeom>
          <a:noFill/>
          <a:ln/>
        </p:spPr>
        <p:txBody>
          <a:bodyPr wrap="square" lIns="0" tIns="0" rIns="0" bIns="0" rtlCol="0" anchor="ctr"/>
          <a:lstStyle/>
          <a:p>
            <a:pPr indent="0" marL="0">
              <a:buNone/>
            </a:pPr>
            <a:r>
              <a:rPr lang="en-US" sz="1200" b="1" dirty="0">
                <a:solidFill>
                  <a:srgbClr val="15803D"/>
                </a:solidFill>
                <a:latin typeface="Consolas" pitchFamily="34" charset="0"/>
                <a:ea typeface="Consolas" pitchFamily="34" charset="-122"/>
                <a:cs typeface="Consolas" pitchFamily="34" charset="-120"/>
              </a:rPr>
              <a:t>ΔP   </a:t>
            </a:r>
            <a:pPr indent="0" marL="0">
              <a:buNone/>
            </a:pPr>
            <a:r>
              <a:rPr lang="en-US" sz="1200" dirty="0">
                <a:solidFill>
                  <a:srgbClr val="64748B"/>
                </a:solidFill>
                <a:latin typeface="Calibri" pitchFamily="34" charset="0"/>
                <a:ea typeface="Calibri" pitchFamily="34" charset="-122"/>
                <a:cs typeface="Calibri" pitchFamily="34" charset="-120"/>
              </a:rPr>
              <a:t>Net arbitrage profit from delaying sale</a:t>
            </a:r>
            <a:endParaRPr lang="en-US" sz="1200" dirty="0"/>
          </a:p>
        </p:txBody>
      </p:sp>
      <p:sp>
        <p:nvSpPr>
          <p:cNvPr id="9" name="Text 7"/>
          <p:cNvSpPr/>
          <p:nvPr/>
        </p:nvSpPr>
        <p:spPr>
          <a:xfrm>
            <a:off x="868680" y="4498848"/>
            <a:ext cx="4572000" cy="320040"/>
          </a:xfrm>
          <a:prstGeom prst="rect">
            <a:avLst/>
          </a:prstGeom>
          <a:noFill/>
          <a:ln/>
        </p:spPr>
        <p:txBody>
          <a:bodyPr wrap="square" lIns="0" tIns="0" rIns="0" bIns="0" rtlCol="0" anchor="ctr"/>
          <a:lstStyle/>
          <a:p>
            <a:pPr indent="0" marL="0">
              <a:buNone/>
            </a:pPr>
            <a:r>
              <a:rPr lang="en-US" sz="1200" b="1" dirty="0">
                <a:solidFill>
                  <a:srgbClr val="15803D"/>
                </a:solidFill>
                <a:latin typeface="Consolas" pitchFamily="34" charset="0"/>
                <a:ea typeface="Consolas" pitchFamily="34" charset="-122"/>
                <a:cs typeface="Consolas" pitchFamily="34" charset="-120"/>
              </a:rPr>
              <a:t>Ŝ(t+Δt)   </a:t>
            </a:r>
            <a:pPr indent="0" marL="0">
              <a:buNone/>
            </a:pPr>
            <a:r>
              <a:rPr lang="en-US" sz="1200" dirty="0">
                <a:solidFill>
                  <a:srgbClr val="64748B"/>
                </a:solidFill>
                <a:latin typeface="Calibri" pitchFamily="34" charset="0"/>
                <a:ea typeface="Calibri" pitchFamily="34" charset="-122"/>
                <a:cs typeface="Calibri" pitchFamily="34" charset="-120"/>
              </a:rPr>
              <a:t>Forecasted spot price at the deferred sale date</a:t>
            </a:r>
            <a:endParaRPr lang="en-US" sz="1200" dirty="0"/>
          </a:p>
        </p:txBody>
      </p:sp>
      <p:sp>
        <p:nvSpPr>
          <p:cNvPr id="10" name="Text 8"/>
          <p:cNvSpPr/>
          <p:nvPr/>
        </p:nvSpPr>
        <p:spPr>
          <a:xfrm>
            <a:off x="868680" y="4882896"/>
            <a:ext cx="4572000" cy="320040"/>
          </a:xfrm>
          <a:prstGeom prst="rect">
            <a:avLst/>
          </a:prstGeom>
          <a:noFill/>
          <a:ln/>
        </p:spPr>
        <p:txBody>
          <a:bodyPr wrap="square" lIns="0" tIns="0" rIns="0" bIns="0" rtlCol="0" anchor="ctr"/>
          <a:lstStyle/>
          <a:p>
            <a:pPr indent="0" marL="0">
              <a:buNone/>
            </a:pPr>
            <a:r>
              <a:rPr lang="en-US" sz="1200" b="1" dirty="0">
                <a:solidFill>
                  <a:srgbClr val="15803D"/>
                </a:solidFill>
                <a:latin typeface="Consolas" pitchFamily="34" charset="0"/>
                <a:ea typeface="Consolas" pitchFamily="34" charset="-122"/>
                <a:cs typeface="Consolas" pitchFamily="34" charset="-120"/>
              </a:rPr>
              <a:t>decay   </a:t>
            </a:r>
            <a:pPr indent="0" marL="0">
              <a:buNone/>
            </a:pPr>
            <a:r>
              <a:rPr lang="en-US" sz="1200" dirty="0">
                <a:solidFill>
                  <a:srgbClr val="64748B"/>
                </a:solidFill>
                <a:latin typeface="Calibri" pitchFamily="34" charset="0"/>
                <a:ea typeface="Calibri" pitchFamily="34" charset="-122"/>
                <a:cs typeface="Calibri" pitchFamily="34" charset="-120"/>
              </a:rPr>
              <a:t>Expected produce quality/volume loss in storage</a:t>
            </a:r>
            <a:endParaRPr lang="en-US" sz="1200" dirty="0"/>
          </a:p>
        </p:txBody>
      </p:sp>
      <p:sp>
        <p:nvSpPr>
          <p:cNvPr id="11" name="Text 9"/>
          <p:cNvSpPr/>
          <p:nvPr/>
        </p:nvSpPr>
        <p:spPr>
          <a:xfrm>
            <a:off x="868680" y="5266944"/>
            <a:ext cx="4572000" cy="320040"/>
          </a:xfrm>
          <a:prstGeom prst="rect">
            <a:avLst/>
          </a:prstGeom>
          <a:noFill/>
          <a:ln/>
        </p:spPr>
        <p:txBody>
          <a:bodyPr wrap="square" lIns="0" tIns="0" rIns="0" bIns="0" rtlCol="0" anchor="ctr"/>
          <a:lstStyle/>
          <a:p>
            <a:pPr indent="0" marL="0">
              <a:buNone/>
            </a:pPr>
            <a:r>
              <a:rPr lang="en-US" sz="1200" b="1" dirty="0">
                <a:solidFill>
                  <a:srgbClr val="15803D"/>
                </a:solidFill>
                <a:latin typeface="Consolas" pitchFamily="34" charset="0"/>
                <a:ea typeface="Consolas" pitchFamily="34" charset="-122"/>
                <a:cs typeface="Consolas" pitchFamily="34" charset="-120"/>
              </a:rPr>
              <a:t>S₀ , C_storage , C_transit   </a:t>
            </a:r>
            <a:pPr indent="0" marL="0">
              <a:buNone/>
            </a:pPr>
            <a:r>
              <a:rPr lang="en-US" sz="1200" dirty="0">
                <a:solidFill>
                  <a:srgbClr val="64748B"/>
                </a:solidFill>
                <a:latin typeface="Calibri" pitchFamily="34" charset="0"/>
                <a:ea typeface="Calibri" pitchFamily="34" charset="-122"/>
                <a:cs typeface="Calibri" pitchFamily="34" charset="-120"/>
              </a:rPr>
              <a:t>Price today, storage cost, and transit cost</a:t>
            </a:r>
            <a:endParaRPr lang="en-US" sz="1200" dirty="0"/>
          </a:p>
        </p:txBody>
      </p:sp>
      <p:sp>
        <p:nvSpPr>
          <p:cNvPr id="12" name="Shape 10"/>
          <p:cNvSpPr/>
          <p:nvPr/>
        </p:nvSpPr>
        <p:spPr>
          <a:xfrm>
            <a:off x="6035040" y="1828800"/>
            <a:ext cx="5577840" cy="3931920"/>
          </a:xfrm>
          <a:prstGeom prst="roundRect">
            <a:avLst>
              <a:gd name="adj" fmla="val 1860"/>
            </a:avLst>
          </a:prstGeom>
          <a:solidFill>
            <a:srgbClr val="FFFFFF"/>
          </a:solidFill>
          <a:ln w="12700">
            <a:solidFill>
              <a:srgbClr val="E2E8F0"/>
            </a:solidFill>
            <a:prstDash val="solid"/>
          </a:ln>
        </p:spPr>
      </p:sp>
      <p:sp>
        <p:nvSpPr>
          <p:cNvPr id="13" name="Text 11"/>
          <p:cNvSpPr/>
          <p:nvPr/>
        </p:nvSpPr>
        <p:spPr>
          <a:xfrm>
            <a:off x="6355080" y="2103120"/>
            <a:ext cx="4937760" cy="36576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Dijkstra's Shortest-Cost Route</a:t>
            </a:r>
            <a:endParaRPr lang="en-US" sz="1600" dirty="0"/>
          </a:p>
        </p:txBody>
      </p:sp>
      <p:sp>
        <p:nvSpPr>
          <p:cNvPr id="14" name="Shape 12"/>
          <p:cNvSpPr/>
          <p:nvPr/>
        </p:nvSpPr>
        <p:spPr>
          <a:xfrm>
            <a:off x="6949440" y="3657600"/>
            <a:ext cx="1874520" cy="1051560"/>
          </a:xfrm>
          <a:prstGeom prst="line">
            <a:avLst/>
          </a:prstGeom>
          <a:noFill/>
          <a:ln w="31750">
            <a:solidFill>
              <a:srgbClr val="D97706"/>
            </a:solidFill>
            <a:prstDash val="solid"/>
          </a:ln>
        </p:spPr>
      </p:sp>
      <p:sp>
        <p:nvSpPr>
          <p:cNvPr id="15" name="Shape 13"/>
          <p:cNvSpPr/>
          <p:nvPr/>
        </p:nvSpPr>
        <p:spPr>
          <a:xfrm flipV="1">
            <a:off x="8778240" y="4251960"/>
            <a:ext cx="1783080" cy="1005840"/>
          </a:xfrm>
          <a:prstGeom prst="line">
            <a:avLst/>
          </a:prstGeom>
          <a:noFill/>
          <a:ln w="31750">
            <a:solidFill>
              <a:srgbClr val="D97706"/>
            </a:solidFill>
            <a:prstDash val="solid"/>
          </a:ln>
        </p:spPr>
      </p:sp>
      <p:sp>
        <p:nvSpPr>
          <p:cNvPr id="16" name="Shape 14"/>
          <p:cNvSpPr/>
          <p:nvPr/>
        </p:nvSpPr>
        <p:spPr>
          <a:xfrm>
            <a:off x="6492240" y="3200400"/>
            <a:ext cx="914400" cy="914400"/>
          </a:xfrm>
          <a:prstGeom prst="ellipse">
            <a:avLst/>
          </a:prstGeom>
          <a:solidFill>
            <a:srgbClr val="0F2B18"/>
          </a:solidFill>
          <a:ln w="25400">
            <a:solidFill>
              <a:srgbClr val="15803D"/>
            </a:solidFill>
            <a:prstDash val="solid"/>
          </a:ln>
        </p:spPr>
      </p:sp>
      <p:sp>
        <p:nvSpPr>
          <p:cNvPr id="17" name="Text 15"/>
          <p:cNvSpPr/>
          <p:nvPr/>
        </p:nvSpPr>
        <p:spPr>
          <a:xfrm>
            <a:off x="6217920" y="3429000"/>
            <a:ext cx="14630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Farm</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Node</a:t>
            </a:r>
            <a:endParaRPr lang="en-US" sz="1050" dirty="0"/>
          </a:p>
        </p:txBody>
      </p:sp>
      <p:sp>
        <p:nvSpPr>
          <p:cNvPr id="18" name="Shape 16"/>
          <p:cNvSpPr/>
          <p:nvPr/>
        </p:nvSpPr>
        <p:spPr>
          <a:xfrm>
            <a:off x="8321040" y="4206240"/>
            <a:ext cx="914400" cy="914400"/>
          </a:xfrm>
          <a:prstGeom prst="ellipse">
            <a:avLst/>
          </a:prstGeom>
          <a:solidFill>
            <a:srgbClr val="0F2B18"/>
          </a:solidFill>
          <a:ln w="25400">
            <a:solidFill>
              <a:srgbClr val="15803D"/>
            </a:solidFill>
            <a:prstDash val="solid"/>
          </a:ln>
        </p:spPr>
      </p:sp>
      <p:sp>
        <p:nvSpPr>
          <p:cNvPr id="19" name="Text 17"/>
          <p:cNvSpPr/>
          <p:nvPr/>
        </p:nvSpPr>
        <p:spPr>
          <a:xfrm>
            <a:off x="8046720" y="4434840"/>
            <a:ext cx="14630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Cold Storage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Alpha</a:t>
            </a:r>
            <a:endParaRPr lang="en-US" sz="1050" dirty="0"/>
          </a:p>
        </p:txBody>
      </p:sp>
      <p:sp>
        <p:nvSpPr>
          <p:cNvPr id="20" name="Shape 18"/>
          <p:cNvSpPr/>
          <p:nvPr/>
        </p:nvSpPr>
        <p:spPr>
          <a:xfrm>
            <a:off x="10149840" y="3200400"/>
            <a:ext cx="914400" cy="914400"/>
          </a:xfrm>
          <a:prstGeom prst="ellipse">
            <a:avLst/>
          </a:prstGeom>
          <a:solidFill>
            <a:srgbClr val="0F2B18"/>
          </a:solidFill>
          <a:ln w="25400">
            <a:solidFill>
              <a:srgbClr val="15803D"/>
            </a:solidFill>
            <a:prstDash val="solid"/>
          </a:ln>
        </p:spPr>
      </p:sp>
      <p:sp>
        <p:nvSpPr>
          <p:cNvPr id="21" name="Text 19"/>
          <p:cNvSpPr/>
          <p:nvPr/>
        </p:nvSpPr>
        <p:spPr>
          <a:xfrm>
            <a:off x="9875520" y="3429000"/>
            <a:ext cx="14630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Central Buyer</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Hub</a:t>
            </a:r>
            <a:endParaRPr lang="en-US" sz="1050" dirty="0"/>
          </a:p>
        </p:txBody>
      </p:sp>
      <p:sp>
        <p:nvSpPr>
          <p:cNvPr id="22" name="Shape 20"/>
          <p:cNvSpPr/>
          <p:nvPr/>
        </p:nvSpPr>
        <p:spPr>
          <a:xfrm>
            <a:off x="7406640" y="4160520"/>
            <a:ext cx="685800" cy="292608"/>
          </a:xfrm>
          <a:prstGeom prst="roundRect">
            <a:avLst>
              <a:gd name="adj" fmla="val 12500"/>
            </a:avLst>
          </a:prstGeom>
          <a:solidFill>
            <a:srgbClr val="F8FAFC"/>
          </a:solidFill>
          <a:ln/>
        </p:spPr>
      </p:sp>
      <p:sp>
        <p:nvSpPr>
          <p:cNvPr id="23" name="Text 21"/>
          <p:cNvSpPr/>
          <p:nvPr/>
        </p:nvSpPr>
        <p:spPr>
          <a:xfrm>
            <a:off x="7406640" y="4160520"/>
            <a:ext cx="685800" cy="292608"/>
          </a:xfrm>
          <a:prstGeom prst="rect">
            <a:avLst/>
          </a:prstGeom>
          <a:noFill/>
          <a:ln/>
        </p:spPr>
        <p:txBody>
          <a:bodyPr wrap="square" lIns="0" tIns="0" rIns="0" bIns="0" rtlCol="0" anchor="ctr"/>
          <a:lstStyle/>
          <a:p>
            <a:pPr algn="ctr" indent="0" marL="0">
              <a:buNone/>
            </a:pPr>
            <a:r>
              <a:rPr lang="en-US" sz="1050" b="1" dirty="0">
                <a:solidFill>
                  <a:srgbClr val="D97706"/>
                </a:solidFill>
                <a:latin typeface="Calibri" pitchFamily="34" charset="0"/>
                <a:ea typeface="Calibri" pitchFamily="34" charset="-122"/>
                <a:cs typeface="Calibri" pitchFamily="34" charset="-120"/>
              </a:rPr>
              <a:t>cost 6</a:t>
            </a:r>
            <a:endParaRPr lang="en-US" sz="1050" dirty="0"/>
          </a:p>
        </p:txBody>
      </p:sp>
      <p:sp>
        <p:nvSpPr>
          <p:cNvPr id="24" name="Shape 22"/>
          <p:cNvSpPr/>
          <p:nvPr/>
        </p:nvSpPr>
        <p:spPr>
          <a:xfrm>
            <a:off x="9464040" y="4160520"/>
            <a:ext cx="685800" cy="292608"/>
          </a:xfrm>
          <a:prstGeom prst="roundRect">
            <a:avLst>
              <a:gd name="adj" fmla="val 12500"/>
            </a:avLst>
          </a:prstGeom>
          <a:solidFill>
            <a:srgbClr val="F8FAFC"/>
          </a:solidFill>
          <a:ln/>
        </p:spPr>
      </p:sp>
      <p:sp>
        <p:nvSpPr>
          <p:cNvPr id="25" name="Text 23"/>
          <p:cNvSpPr/>
          <p:nvPr/>
        </p:nvSpPr>
        <p:spPr>
          <a:xfrm>
            <a:off x="9464040" y="4160520"/>
            <a:ext cx="685800" cy="292608"/>
          </a:xfrm>
          <a:prstGeom prst="rect">
            <a:avLst/>
          </a:prstGeom>
          <a:noFill/>
          <a:ln/>
        </p:spPr>
        <p:txBody>
          <a:bodyPr wrap="square" lIns="0" tIns="0" rIns="0" bIns="0" rtlCol="0" anchor="ctr"/>
          <a:lstStyle/>
          <a:p>
            <a:pPr algn="ctr" indent="0" marL="0">
              <a:buNone/>
            </a:pPr>
            <a:r>
              <a:rPr lang="en-US" sz="1050" b="1" dirty="0">
                <a:solidFill>
                  <a:srgbClr val="D97706"/>
                </a:solidFill>
                <a:latin typeface="Calibri" pitchFamily="34" charset="0"/>
                <a:ea typeface="Calibri" pitchFamily="34" charset="-122"/>
                <a:cs typeface="Calibri" pitchFamily="34" charset="-120"/>
              </a:rPr>
              <a:t>cost 4</a:t>
            </a:r>
            <a:endParaRPr lang="en-US" sz="1050" dirty="0"/>
          </a:p>
        </p:txBody>
      </p:sp>
      <p:sp>
        <p:nvSpPr>
          <p:cNvPr id="26" name="Text 24"/>
          <p:cNvSpPr/>
          <p:nvPr/>
        </p:nvSpPr>
        <p:spPr>
          <a:xfrm>
            <a:off x="6355080" y="5120640"/>
            <a:ext cx="4937760" cy="41148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Total cheapest-path cost: 10 units → beats direct-to-market (14 units) by 29%</a:t>
            </a:r>
            <a:endParaRPr lang="en-US" sz="1200" dirty="0"/>
          </a:p>
        </p:txBody>
      </p:sp>
      <p:sp>
        <p:nvSpPr>
          <p:cNvPr id="27" name="Text 25"/>
          <p:cNvSpPr/>
          <p:nvPr/>
        </p:nvSpPr>
        <p:spPr>
          <a:xfrm>
            <a:off x="457200" y="6492240"/>
            <a:ext cx="36576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AgriPredict AI Engine</a:t>
            </a:r>
            <a:endParaRPr lang="en-US" sz="900" dirty="0"/>
          </a:p>
        </p:txBody>
      </p:sp>
      <p:sp>
        <p:nvSpPr>
          <p:cNvPr id="28" name="Text 26"/>
          <p:cNvSpPr/>
          <p:nvPr/>
        </p:nvSpPr>
        <p:spPr>
          <a:xfrm>
            <a:off x="11002975" y="6492240"/>
            <a:ext cx="7315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algn="l" indent="0" marL="0">
              <a:buNone/>
            </a:pPr>
            <a:r>
              <a:rPr lang="en-US" sz="3000" b="1" dirty="0">
                <a:solidFill>
                  <a:srgbClr val="1E293B"/>
                </a:solidFill>
                <a:latin typeface="Cambria" pitchFamily="34" charset="0"/>
                <a:ea typeface="Cambria" pitchFamily="34" charset="-122"/>
                <a:cs typeface="Cambria" pitchFamily="34" charset="-120"/>
              </a:rPr>
              <a:t>Impact &amp; Wastage Reduction</a:t>
            </a:r>
            <a:endParaRPr lang="en-US" sz="3000" dirty="0"/>
          </a:p>
        </p:txBody>
      </p:sp>
      <p:sp>
        <p:nvSpPr>
          <p:cNvPr id="3" name="Text 1"/>
          <p:cNvSpPr/>
          <p:nvPr/>
        </p:nvSpPr>
        <p:spPr>
          <a:xfrm>
            <a:off x="548640" y="960120"/>
            <a:ext cx="11094415" cy="411480"/>
          </a:xfrm>
          <a:prstGeom prst="rect">
            <a:avLst/>
          </a:prstGeom>
          <a:noFill/>
          <a:ln/>
        </p:spPr>
        <p:txBody>
          <a:bodyPr wrap="square" lIns="0" tIns="0" rIns="0" bIns="0" rtlCol="0" anchor="ctr"/>
          <a:lstStyle/>
          <a:p>
            <a:pPr algn="l" indent="0" marL="0">
              <a:buNone/>
            </a:pPr>
            <a:r>
              <a:rPr lang="en-US" sz="1400" i="1" dirty="0">
                <a:solidFill>
                  <a:srgbClr val="64748B"/>
                </a:solidFill>
                <a:latin typeface="Calibri" pitchFamily="34" charset="0"/>
                <a:ea typeface="Calibri" pitchFamily="34" charset="-122"/>
                <a:cs typeface="Calibri" pitchFamily="34" charset="-120"/>
              </a:rPr>
              <a:t>Guided cold-chain decisions measurably outperform standard storage practice.</a:t>
            </a:r>
            <a:endParaRPr lang="en-US" sz="1400" dirty="0"/>
          </a:p>
        </p:txBody>
      </p:sp>
      <p:sp>
        <p:nvSpPr>
          <p:cNvPr id="4" name="Shape 2"/>
          <p:cNvSpPr/>
          <p:nvPr/>
        </p:nvSpPr>
        <p:spPr>
          <a:xfrm>
            <a:off x="548640" y="1920240"/>
            <a:ext cx="4206240" cy="1737360"/>
          </a:xfrm>
          <a:prstGeom prst="roundRect">
            <a:avLst>
              <a:gd name="adj" fmla="val 4211"/>
            </a:avLst>
          </a:prstGeom>
          <a:solidFill>
            <a:srgbClr val="0F2B18"/>
          </a:solidFill>
          <a:ln/>
        </p:spPr>
      </p:sp>
      <p:sp>
        <p:nvSpPr>
          <p:cNvPr id="5" name="Text 3"/>
          <p:cNvSpPr/>
          <p:nvPr/>
        </p:nvSpPr>
        <p:spPr>
          <a:xfrm>
            <a:off x="822960" y="2103120"/>
            <a:ext cx="3657600" cy="777240"/>
          </a:xfrm>
          <a:prstGeom prst="rect">
            <a:avLst/>
          </a:prstGeom>
          <a:noFill/>
          <a:ln/>
        </p:spPr>
        <p:txBody>
          <a:bodyPr wrap="square" lIns="0" tIns="0" rIns="0" bIns="0" rtlCol="0" anchor="ctr"/>
          <a:lstStyle/>
          <a:p>
            <a:pPr indent="0" marL="0">
              <a:buNone/>
            </a:pPr>
            <a:r>
              <a:rPr lang="en-US" sz="4000" b="1" dirty="0">
                <a:solidFill>
                  <a:srgbClr val="4ADE80"/>
                </a:solidFill>
                <a:latin typeface="Cambria" pitchFamily="34" charset="0"/>
                <a:ea typeface="Cambria" pitchFamily="34" charset="-122"/>
                <a:cs typeface="Cambria" pitchFamily="34" charset="-120"/>
              </a:rPr>
              <a:t>+18–32%</a:t>
            </a:r>
            <a:endParaRPr lang="en-US" sz="4000" dirty="0"/>
          </a:p>
        </p:txBody>
      </p:sp>
      <p:sp>
        <p:nvSpPr>
          <p:cNvPr id="6" name="Text 4"/>
          <p:cNvSpPr/>
          <p:nvPr/>
        </p:nvSpPr>
        <p:spPr>
          <a:xfrm>
            <a:off x="822960" y="2880360"/>
            <a:ext cx="3657600" cy="68580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Increase in Farmer Net Revenue Realization</a:t>
            </a:r>
            <a:endParaRPr lang="en-US" sz="1300" dirty="0"/>
          </a:p>
        </p:txBody>
      </p:sp>
      <p:sp>
        <p:nvSpPr>
          <p:cNvPr id="7" name="Shape 5"/>
          <p:cNvSpPr/>
          <p:nvPr/>
        </p:nvSpPr>
        <p:spPr>
          <a:xfrm>
            <a:off x="548640" y="3886200"/>
            <a:ext cx="4206240" cy="1737360"/>
          </a:xfrm>
          <a:prstGeom prst="roundRect">
            <a:avLst>
              <a:gd name="adj" fmla="val 4211"/>
            </a:avLst>
          </a:prstGeom>
          <a:solidFill>
            <a:srgbClr val="0F2B18"/>
          </a:solidFill>
          <a:ln/>
        </p:spPr>
      </p:sp>
      <p:sp>
        <p:nvSpPr>
          <p:cNvPr id="8" name="Text 6"/>
          <p:cNvSpPr/>
          <p:nvPr/>
        </p:nvSpPr>
        <p:spPr>
          <a:xfrm>
            <a:off x="822960" y="4069080"/>
            <a:ext cx="3657600" cy="777240"/>
          </a:xfrm>
          <a:prstGeom prst="rect">
            <a:avLst/>
          </a:prstGeom>
          <a:noFill/>
          <a:ln/>
        </p:spPr>
        <p:txBody>
          <a:bodyPr wrap="square" lIns="0" tIns="0" rIns="0" bIns="0" rtlCol="0" anchor="ctr"/>
          <a:lstStyle/>
          <a:p>
            <a:pPr indent="0" marL="0">
              <a:buNone/>
            </a:pPr>
            <a:r>
              <a:rPr lang="en-US" sz="4000" b="1" dirty="0">
                <a:solidFill>
                  <a:srgbClr val="4ADE80"/>
                </a:solidFill>
                <a:latin typeface="Cambria" pitchFamily="34" charset="0"/>
                <a:ea typeface="Cambria" pitchFamily="34" charset="-122"/>
                <a:cs typeface="Cambria" pitchFamily="34" charset="-120"/>
              </a:rPr>
              <a:t>40–60%</a:t>
            </a:r>
            <a:endParaRPr lang="en-US" sz="4000" dirty="0"/>
          </a:p>
        </p:txBody>
      </p:sp>
      <p:sp>
        <p:nvSpPr>
          <p:cNvPr id="9" name="Text 7"/>
          <p:cNvSpPr/>
          <p:nvPr/>
        </p:nvSpPr>
        <p:spPr>
          <a:xfrm>
            <a:off x="822960" y="4846320"/>
            <a:ext cx="3657600" cy="68580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Reduction in Post-Harvest Crop Spoilage</a:t>
            </a:r>
            <a:endParaRPr lang="en-US" sz="1300" dirty="0"/>
          </a:p>
        </p:txBody>
      </p:sp>
      <p:sp>
        <p:nvSpPr>
          <p:cNvPr id="10" name="Text 8"/>
          <p:cNvSpPr/>
          <p:nvPr/>
        </p:nvSpPr>
        <p:spPr>
          <a:xfrm>
            <a:off x="5120640" y="1828800"/>
            <a:ext cx="6492240" cy="320040"/>
          </a:xfrm>
          <a:prstGeom prst="rect">
            <a:avLst/>
          </a:prstGeom>
          <a:noFill/>
          <a:ln/>
        </p:spPr>
        <p:txBody>
          <a:bodyPr wrap="square" lIns="0" tIns="0" rIns="0" bIns="0" rtlCol="0" anchor="ctr"/>
          <a:lstStyle/>
          <a:p>
            <a:pPr indent="0" marL="0">
              <a:buNone/>
            </a:pPr>
            <a:r>
              <a:rPr lang="en-US" sz="1500" b="1" dirty="0">
                <a:solidFill>
                  <a:srgbClr val="1E293B"/>
                </a:solidFill>
                <a:latin typeface="Cambria" pitchFamily="34" charset="0"/>
                <a:ea typeface="Cambria" pitchFamily="34" charset="-122"/>
                <a:cs typeface="Cambria" pitchFamily="34" charset="-120"/>
              </a:rPr>
              <a:t>30-Day Post-Harvest Quality Retention</a:t>
            </a:r>
            <a:endParaRPr lang="en-US" sz="1500" dirty="0"/>
          </a:p>
        </p:txBody>
      </p:sp>
      <p:graphicFrame>
        <p:nvGraphicFramePr>
          <p:cNvPr id="11" name="Chart 0" descr=""/>
          <p:cNvGraphicFramePr/>
          <p:nvPr/>
        </p:nvGraphicFramePr>
        <p:xfrm>
          <a:off x="5120640" y="2194560"/>
          <a:ext cx="6492240" cy="356616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457200" y="6492240"/>
            <a:ext cx="36576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AgriPredict AI Engine</a:t>
            </a:r>
            <a:endParaRPr lang="en-US" sz="900" dirty="0"/>
          </a:p>
        </p:txBody>
      </p:sp>
      <p:sp>
        <p:nvSpPr>
          <p:cNvPr id="13" name="Text 10"/>
          <p:cNvSpPr/>
          <p:nvPr/>
        </p:nvSpPr>
        <p:spPr>
          <a:xfrm>
            <a:off x="11002975" y="6492240"/>
            <a:ext cx="7315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algn="l" indent="0" marL="0">
              <a:buNone/>
            </a:pPr>
            <a:r>
              <a:rPr lang="en-US" sz="3000" b="1" dirty="0">
                <a:solidFill>
                  <a:srgbClr val="1E293B"/>
                </a:solidFill>
                <a:latin typeface="Cambria" pitchFamily="34" charset="0"/>
                <a:ea typeface="Cambria" pitchFamily="34" charset="-122"/>
                <a:cs typeface="Cambria" pitchFamily="34" charset="-120"/>
              </a:rPr>
              <a:t>Business Model &amp; Strategy</a:t>
            </a:r>
            <a:endParaRPr lang="en-US" sz="3000" dirty="0"/>
          </a:p>
        </p:txBody>
      </p:sp>
      <p:sp>
        <p:nvSpPr>
          <p:cNvPr id="3" name="Text 1"/>
          <p:cNvSpPr/>
          <p:nvPr/>
        </p:nvSpPr>
        <p:spPr>
          <a:xfrm>
            <a:off x="548640" y="960120"/>
            <a:ext cx="11094415" cy="411480"/>
          </a:xfrm>
          <a:prstGeom prst="rect">
            <a:avLst/>
          </a:prstGeom>
          <a:noFill/>
          <a:ln/>
        </p:spPr>
        <p:txBody>
          <a:bodyPr wrap="square" lIns="0" tIns="0" rIns="0" bIns="0" rtlCol="0" anchor="ctr"/>
          <a:lstStyle/>
          <a:p>
            <a:pPr algn="l" indent="0" marL="0">
              <a:buNone/>
            </a:pPr>
            <a:r>
              <a:rPr lang="en-US" sz="1400" i="1" dirty="0">
                <a:solidFill>
                  <a:srgbClr val="64748B"/>
                </a:solidFill>
                <a:latin typeface="Calibri" pitchFamily="34" charset="0"/>
                <a:ea typeface="Calibri" pitchFamily="34" charset="-122"/>
                <a:cs typeface="Calibri" pitchFamily="34" charset="-120"/>
              </a:rPr>
              <a:t>Three complementary, low-friction revenue streams across the value chain.</a:t>
            </a:r>
            <a:endParaRPr lang="en-US" sz="1400" dirty="0"/>
          </a:p>
        </p:txBody>
      </p:sp>
      <p:sp>
        <p:nvSpPr>
          <p:cNvPr id="4" name="Shape 2"/>
          <p:cNvSpPr/>
          <p:nvPr/>
        </p:nvSpPr>
        <p:spPr>
          <a:xfrm>
            <a:off x="838048" y="1828800"/>
            <a:ext cx="3291840" cy="3383280"/>
          </a:xfrm>
          <a:prstGeom prst="roundRect">
            <a:avLst>
              <a:gd name="adj" fmla="val 2222"/>
            </a:avLst>
          </a:prstGeom>
          <a:solidFill>
            <a:srgbClr val="0F2B18"/>
          </a:solidFill>
          <a:ln w="12700">
            <a:solidFill>
              <a:srgbClr val="15803D"/>
            </a:solidFill>
            <a:prstDash val="solid"/>
          </a:ln>
          <a:effectLst>
            <a:outerShdw sx="100000" sy="100000" kx="0" ky="0" algn="bl" rotWithShape="0" blurRad="101600" dist="38100" dir="5400000">
              <a:srgbClr val="1E293B">
                <a:alpha val="10000"/>
              </a:srgbClr>
            </a:outerShdw>
          </a:effectLst>
        </p:spPr>
      </p:sp>
      <p:sp>
        <p:nvSpPr>
          <p:cNvPr id="5" name="Text 3"/>
          <p:cNvSpPr/>
          <p:nvPr/>
        </p:nvSpPr>
        <p:spPr>
          <a:xfrm>
            <a:off x="1112368" y="2103120"/>
            <a:ext cx="2743200" cy="274320"/>
          </a:xfrm>
          <a:prstGeom prst="rect">
            <a:avLst/>
          </a:prstGeom>
          <a:noFill/>
          <a:ln/>
        </p:spPr>
        <p:txBody>
          <a:bodyPr wrap="square" lIns="0" tIns="0" rIns="0" bIns="0" rtlCol="0" anchor="ctr"/>
          <a:lstStyle/>
          <a:p>
            <a:pPr indent="0" marL="0">
              <a:buNone/>
            </a:pPr>
            <a:r>
              <a:rPr lang="en-US" sz="1050" b="1" spc="100" kern="0" dirty="0">
                <a:solidFill>
                  <a:srgbClr val="86EFAC"/>
                </a:solidFill>
                <a:latin typeface="Calibri" pitchFamily="34" charset="0"/>
                <a:ea typeface="Calibri" pitchFamily="34" charset="-122"/>
                <a:cs typeface="Calibri" pitchFamily="34" charset="-120"/>
              </a:rPr>
              <a:t>Tier 1</a:t>
            </a:r>
            <a:endParaRPr lang="en-US" sz="1050" dirty="0"/>
          </a:p>
        </p:txBody>
      </p:sp>
      <p:sp>
        <p:nvSpPr>
          <p:cNvPr id="6" name="Shape 4"/>
          <p:cNvSpPr/>
          <p:nvPr/>
        </p:nvSpPr>
        <p:spPr>
          <a:xfrm>
            <a:off x="3215488" y="2057400"/>
            <a:ext cx="548640" cy="548640"/>
          </a:xfrm>
          <a:prstGeom prst="ellipse">
            <a:avLst/>
          </a:prstGeom>
          <a:solidFill>
            <a:srgbClr val="D97706"/>
          </a:solidFill>
          <a:ln/>
        </p:spPr>
      </p:sp>
      <p:pic>
        <p:nvPicPr>
          <p:cNvPr id="7" name="Image 0" descr="/home/claude/agripredict/icons/dollar.png">    </p:cNvPr>
          <p:cNvPicPr>
            <a:picLocks noChangeAspect="1"/>
          </p:cNvPicPr>
          <p:nvPr/>
        </p:nvPicPr>
        <p:blipFill>
          <a:blip r:embed="rId1"/>
          <a:stretch>
            <a:fillRect/>
          </a:stretch>
        </p:blipFill>
        <p:spPr>
          <a:xfrm>
            <a:off x="3289554" y="2131466"/>
            <a:ext cx="400507" cy="400507"/>
          </a:xfrm>
          <a:prstGeom prst="rect">
            <a:avLst/>
          </a:prstGeom>
        </p:spPr>
      </p:pic>
      <p:sp>
        <p:nvSpPr>
          <p:cNvPr id="8" name="Text 5"/>
          <p:cNvSpPr/>
          <p:nvPr/>
        </p:nvSpPr>
        <p:spPr>
          <a:xfrm>
            <a:off x="1112368" y="2697480"/>
            <a:ext cx="2743200" cy="7315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B2B Marketplace Commission</a:t>
            </a:r>
            <a:endParaRPr lang="en-US" sz="1700" dirty="0"/>
          </a:p>
        </p:txBody>
      </p:sp>
      <p:sp>
        <p:nvSpPr>
          <p:cNvPr id="9" name="Text 6"/>
          <p:cNvSpPr/>
          <p:nvPr/>
        </p:nvSpPr>
        <p:spPr>
          <a:xfrm>
            <a:off x="1112368" y="3520440"/>
            <a:ext cx="2743200" cy="155448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1.5%–3.0% transaction fee on direct corporate-buyer produce purchases.</a:t>
            </a:r>
            <a:endParaRPr lang="en-US" sz="1300" dirty="0"/>
          </a:p>
        </p:txBody>
      </p:sp>
      <p:sp>
        <p:nvSpPr>
          <p:cNvPr id="10" name="Shape 7"/>
          <p:cNvSpPr/>
          <p:nvPr/>
        </p:nvSpPr>
        <p:spPr>
          <a:xfrm>
            <a:off x="4449928" y="1828800"/>
            <a:ext cx="3291840" cy="3383280"/>
          </a:xfrm>
          <a:prstGeom prst="roundRect">
            <a:avLst>
              <a:gd name="adj" fmla="val 2222"/>
            </a:avLst>
          </a:prstGeom>
          <a:solidFill>
            <a:srgbClr val="FFFFFF"/>
          </a:solidFill>
          <a:ln w="12700">
            <a:solidFill>
              <a:srgbClr val="E2E8F0"/>
            </a:solidFill>
            <a:prstDash val="solid"/>
          </a:ln>
          <a:effectLst>
            <a:outerShdw sx="100000" sy="100000" kx="0" ky="0" algn="bl" rotWithShape="0" blurRad="101600" dist="38100" dir="5400000">
              <a:srgbClr val="1E293B">
                <a:alpha val="10000"/>
              </a:srgbClr>
            </a:outerShdw>
          </a:effectLst>
        </p:spPr>
      </p:sp>
      <p:sp>
        <p:nvSpPr>
          <p:cNvPr id="11" name="Text 8"/>
          <p:cNvSpPr/>
          <p:nvPr/>
        </p:nvSpPr>
        <p:spPr>
          <a:xfrm>
            <a:off x="4724248" y="2103120"/>
            <a:ext cx="2743200" cy="274320"/>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Tier 2</a:t>
            </a:r>
            <a:endParaRPr lang="en-US" sz="1050" dirty="0"/>
          </a:p>
        </p:txBody>
      </p:sp>
      <p:sp>
        <p:nvSpPr>
          <p:cNvPr id="12" name="Shape 9"/>
          <p:cNvSpPr/>
          <p:nvPr/>
        </p:nvSpPr>
        <p:spPr>
          <a:xfrm>
            <a:off x="6827368" y="2057400"/>
            <a:ext cx="548640" cy="548640"/>
          </a:xfrm>
          <a:prstGeom prst="ellipse">
            <a:avLst/>
          </a:prstGeom>
          <a:solidFill>
            <a:srgbClr val="15803D"/>
          </a:solidFill>
          <a:ln/>
        </p:spPr>
      </p:sp>
      <p:pic>
        <p:nvPicPr>
          <p:cNvPr id="13" name="Image 1" descr="/home/claude/agripredict/icons/thermometer.png">    </p:cNvPr>
          <p:cNvPicPr>
            <a:picLocks noChangeAspect="1"/>
          </p:cNvPicPr>
          <p:nvPr/>
        </p:nvPicPr>
        <p:blipFill>
          <a:blip r:embed="rId2"/>
          <a:stretch>
            <a:fillRect/>
          </a:stretch>
        </p:blipFill>
        <p:spPr>
          <a:xfrm>
            <a:off x="6901434" y="2131466"/>
            <a:ext cx="400507" cy="400507"/>
          </a:xfrm>
          <a:prstGeom prst="rect">
            <a:avLst/>
          </a:prstGeom>
        </p:spPr>
      </p:pic>
      <p:sp>
        <p:nvSpPr>
          <p:cNvPr id="14" name="Text 10"/>
          <p:cNvSpPr/>
          <p:nvPr/>
        </p:nvSpPr>
        <p:spPr>
          <a:xfrm>
            <a:off x="4724248" y="2697480"/>
            <a:ext cx="2743200" cy="731520"/>
          </a:xfrm>
          <a:prstGeom prst="rect">
            <a:avLst/>
          </a:prstGeom>
          <a:noFill/>
          <a:ln/>
        </p:spPr>
        <p:txBody>
          <a:bodyPr wrap="square" lIns="0" tIns="0" rIns="0" bIns="0" rtlCol="0" anchor="t"/>
          <a:lstStyle/>
          <a:p>
            <a:pPr indent="0" marL="0">
              <a:buNone/>
            </a:pPr>
            <a:r>
              <a:rPr lang="en-US" sz="1700" b="1" dirty="0">
                <a:solidFill>
                  <a:srgbClr val="1E293B"/>
                </a:solidFill>
                <a:latin typeface="Cambria" pitchFamily="34" charset="0"/>
                <a:ea typeface="Cambria" pitchFamily="34" charset="-122"/>
                <a:cs typeface="Cambria" pitchFamily="34" charset="-120"/>
              </a:rPr>
              <a:t>Cold-Storage SaaS</a:t>
            </a:r>
            <a:endParaRPr lang="en-US" sz="1700" dirty="0"/>
          </a:p>
        </p:txBody>
      </p:sp>
      <p:sp>
        <p:nvSpPr>
          <p:cNvPr id="15" name="Text 11"/>
          <p:cNvSpPr/>
          <p:nvPr/>
        </p:nvSpPr>
        <p:spPr>
          <a:xfrm>
            <a:off x="4724248" y="3520440"/>
            <a:ext cx="2743200" cy="15544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Monthly platform subscription for facility operators to list space and receive automated bookings.</a:t>
            </a:r>
            <a:endParaRPr lang="en-US" sz="1300" dirty="0"/>
          </a:p>
        </p:txBody>
      </p:sp>
      <p:sp>
        <p:nvSpPr>
          <p:cNvPr id="16" name="Shape 12"/>
          <p:cNvSpPr/>
          <p:nvPr/>
        </p:nvSpPr>
        <p:spPr>
          <a:xfrm>
            <a:off x="8061808" y="1828800"/>
            <a:ext cx="3291840" cy="3383280"/>
          </a:xfrm>
          <a:prstGeom prst="roundRect">
            <a:avLst>
              <a:gd name="adj" fmla="val 2222"/>
            </a:avLst>
          </a:prstGeom>
          <a:solidFill>
            <a:srgbClr val="FFFFFF"/>
          </a:solidFill>
          <a:ln w="12700">
            <a:solidFill>
              <a:srgbClr val="E2E8F0"/>
            </a:solidFill>
            <a:prstDash val="solid"/>
          </a:ln>
          <a:effectLst>
            <a:outerShdw sx="100000" sy="100000" kx="0" ky="0" algn="bl" rotWithShape="0" blurRad="101600" dist="38100" dir="5400000">
              <a:srgbClr val="1E293B">
                <a:alpha val="10000"/>
              </a:srgbClr>
            </a:outerShdw>
          </a:effectLst>
        </p:spPr>
      </p:sp>
      <p:sp>
        <p:nvSpPr>
          <p:cNvPr id="17" name="Text 13"/>
          <p:cNvSpPr/>
          <p:nvPr/>
        </p:nvSpPr>
        <p:spPr>
          <a:xfrm>
            <a:off x="8336128" y="2103120"/>
            <a:ext cx="2743200" cy="274320"/>
          </a:xfrm>
          <a:prstGeom prst="rect">
            <a:avLst/>
          </a:prstGeom>
          <a:noFill/>
          <a:ln/>
        </p:spPr>
        <p:txBody>
          <a:bodyPr wrap="square" lIns="0" tIns="0" rIns="0" bIns="0" rtlCol="0" anchor="ctr"/>
          <a:lstStyle/>
          <a:p>
            <a:pPr indent="0" marL="0">
              <a:buNone/>
            </a:pPr>
            <a:r>
              <a:rPr lang="en-US" sz="1050" b="1" spc="100" kern="0" dirty="0">
                <a:solidFill>
                  <a:srgbClr val="D97706"/>
                </a:solidFill>
                <a:latin typeface="Calibri" pitchFamily="34" charset="0"/>
                <a:ea typeface="Calibri" pitchFamily="34" charset="-122"/>
                <a:cs typeface="Calibri" pitchFamily="34" charset="-120"/>
              </a:rPr>
              <a:t>Tier 3</a:t>
            </a:r>
            <a:endParaRPr lang="en-US" sz="1050" dirty="0"/>
          </a:p>
        </p:txBody>
      </p:sp>
      <p:sp>
        <p:nvSpPr>
          <p:cNvPr id="18" name="Shape 14"/>
          <p:cNvSpPr/>
          <p:nvPr/>
        </p:nvSpPr>
        <p:spPr>
          <a:xfrm>
            <a:off x="10439248" y="2057400"/>
            <a:ext cx="548640" cy="548640"/>
          </a:xfrm>
          <a:prstGeom prst="ellipse">
            <a:avLst/>
          </a:prstGeom>
          <a:solidFill>
            <a:srgbClr val="15803D"/>
          </a:solidFill>
          <a:ln/>
        </p:spPr>
      </p:sp>
      <p:pic>
        <p:nvPicPr>
          <p:cNvPr id="19" name="Image 2" descr="/home/claude/agripredict/icons/database.png">    </p:cNvPr>
          <p:cNvPicPr>
            <a:picLocks noChangeAspect="1"/>
          </p:cNvPicPr>
          <p:nvPr/>
        </p:nvPicPr>
        <p:blipFill>
          <a:blip r:embed="rId3"/>
          <a:stretch>
            <a:fillRect/>
          </a:stretch>
        </p:blipFill>
        <p:spPr>
          <a:xfrm>
            <a:off x="10513314" y="2131466"/>
            <a:ext cx="400507" cy="400507"/>
          </a:xfrm>
          <a:prstGeom prst="rect">
            <a:avLst/>
          </a:prstGeom>
        </p:spPr>
      </p:pic>
      <p:sp>
        <p:nvSpPr>
          <p:cNvPr id="20" name="Text 15"/>
          <p:cNvSpPr/>
          <p:nvPr/>
        </p:nvSpPr>
        <p:spPr>
          <a:xfrm>
            <a:off x="8336128" y="2697480"/>
            <a:ext cx="2743200" cy="731520"/>
          </a:xfrm>
          <a:prstGeom prst="rect">
            <a:avLst/>
          </a:prstGeom>
          <a:noFill/>
          <a:ln/>
        </p:spPr>
        <p:txBody>
          <a:bodyPr wrap="square" lIns="0" tIns="0" rIns="0" bIns="0" rtlCol="0" anchor="t"/>
          <a:lstStyle/>
          <a:p>
            <a:pPr indent="0" marL="0">
              <a:buNone/>
            </a:pPr>
            <a:r>
              <a:rPr lang="en-US" sz="1700" b="1" dirty="0">
                <a:solidFill>
                  <a:srgbClr val="1E293B"/>
                </a:solidFill>
                <a:latin typeface="Cambria" pitchFamily="34" charset="0"/>
                <a:ea typeface="Cambria" pitchFamily="34" charset="-122"/>
                <a:cs typeface="Cambria" pitchFamily="34" charset="-120"/>
              </a:rPr>
              <a:t>Financial APIs</a:t>
            </a:r>
            <a:endParaRPr lang="en-US" sz="1700" dirty="0"/>
          </a:p>
        </p:txBody>
      </p:sp>
      <p:sp>
        <p:nvSpPr>
          <p:cNvPr id="21" name="Text 16"/>
          <p:cNvSpPr/>
          <p:nvPr/>
        </p:nvSpPr>
        <p:spPr>
          <a:xfrm>
            <a:off x="8336128" y="3520440"/>
            <a:ext cx="2743200" cy="15544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Monetize anonymized yield and pricing trends for banks and crop insurers.</a:t>
            </a:r>
            <a:endParaRPr lang="en-US" sz="1300" dirty="0"/>
          </a:p>
        </p:txBody>
      </p:sp>
      <p:sp>
        <p:nvSpPr>
          <p:cNvPr id="22" name="Text 17"/>
          <p:cNvSpPr/>
          <p:nvPr/>
        </p:nvSpPr>
        <p:spPr>
          <a:xfrm>
            <a:off x="457200" y="6492240"/>
            <a:ext cx="36576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AgriPredict AI Engine</a:t>
            </a:r>
            <a:endParaRPr lang="en-US" sz="900" dirty="0"/>
          </a:p>
        </p:txBody>
      </p:sp>
      <p:sp>
        <p:nvSpPr>
          <p:cNvPr id="23" name="Text 18"/>
          <p:cNvSpPr/>
          <p:nvPr/>
        </p:nvSpPr>
        <p:spPr>
          <a:xfrm>
            <a:off x="11002975" y="6492240"/>
            <a:ext cx="7315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algn="l" indent="0" marL="0">
              <a:buNone/>
            </a:pPr>
            <a:r>
              <a:rPr lang="en-US" sz="3000" b="1" dirty="0">
                <a:solidFill>
                  <a:srgbClr val="1E293B"/>
                </a:solidFill>
                <a:latin typeface="Cambria" pitchFamily="34" charset="0"/>
                <a:ea typeface="Cambria" pitchFamily="34" charset="-122"/>
                <a:cs typeface="Cambria" pitchFamily="34" charset="-120"/>
              </a:rPr>
              <a:t>Market Opportunity</a:t>
            </a:r>
            <a:endParaRPr lang="en-US" sz="3000" dirty="0"/>
          </a:p>
        </p:txBody>
      </p:sp>
      <p:sp>
        <p:nvSpPr>
          <p:cNvPr id="3" name="Text 1"/>
          <p:cNvSpPr/>
          <p:nvPr/>
        </p:nvSpPr>
        <p:spPr>
          <a:xfrm>
            <a:off x="548640" y="960120"/>
            <a:ext cx="11094415" cy="411480"/>
          </a:xfrm>
          <a:prstGeom prst="rect">
            <a:avLst/>
          </a:prstGeom>
          <a:noFill/>
          <a:ln/>
        </p:spPr>
        <p:txBody>
          <a:bodyPr wrap="square" lIns="0" tIns="0" rIns="0" bIns="0" rtlCol="0" anchor="ctr"/>
          <a:lstStyle/>
          <a:p>
            <a:pPr algn="l" indent="0" marL="0">
              <a:buNone/>
            </a:pPr>
            <a:r>
              <a:rPr lang="en-US" sz="1400" i="1" dirty="0">
                <a:solidFill>
                  <a:srgbClr val="64748B"/>
                </a:solidFill>
                <a:latin typeface="Calibri" pitchFamily="34" charset="0"/>
                <a:ea typeface="Calibri" pitchFamily="34" charset="-122"/>
                <a:cs typeface="Calibri" pitchFamily="34" charset="-120"/>
              </a:rPr>
              <a:t>A large and growing addressable market, entered through a focused beachhead.</a:t>
            </a:r>
            <a:endParaRPr lang="en-US" sz="1400" dirty="0"/>
          </a:p>
        </p:txBody>
      </p:sp>
      <p:sp>
        <p:nvSpPr>
          <p:cNvPr id="4" name="Shape 2"/>
          <p:cNvSpPr/>
          <p:nvPr/>
        </p:nvSpPr>
        <p:spPr>
          <a:xfrm>
            <a:off x="1874520" y="1600200"/>
            <a:ext cx="4663440" cy="4663440"/>
          </a:xfrm>
          <a:prstGeom prst="ellipse">
            <a:avLst/>
          </a:prstGeom>
          <a:solidFill>
            <a:srgbClr val="DCFCE7"/>
          </a:solidFill>
          <a:ln/>
        </p:spPr>
      </p:sp>
      <p:sp>
        <p:nvSpPr>
          <p:cNvPr id="5" name="Shape 3"/>
          <p:cNvSpPr/>
          <p:nvPr/>
        </p:nvSpPr>
        <p:spPr>
          <a:xfrm>
            <a:off x="2606040" y="2331720"/>
            <a:ext cx="3200400" cy="3200400"/>
          </a:xfrm>
          <a:prstGeom prst="ellipse">
            <a:avLst/>
          </a:prstGeom>
          <a:solidFill>
            <a:srgbClr val="86EFAC"/>
          </a:solidFill>
          <a:ln/>
        </p:spPr>
      </p:sp>
      <p:sp>
        <p:nvSpPr>
          <p:cNvPr id="6" name="Shape 4"/>
          <p:cNvSpPr/>
          <p:nvPr/>
        </p:nvSpPr>
        <p:spPr>
          <a:xfrm>
            <a:off x="3337560" y="3063240"/>
            <a:ext cx="1737360" cy="1737360"/>
          </a:xfrm>
          <a:prstGeom prst="ellipse">
            <a:avLst/>
          </a:prstGeom>
          <a:solidFill>
            <a:srgbClr val="15803D"/>
          </a:solidFill>
          <a:ln/>
        </p:spPr>
      </p:sp>
      <p:sp>
        <p:nvSpPr>
          <p:cNvPr id="7" name="Text 5"/>
          <p:cNvSpPr/>
          <p:nvPr/>
        </p:nvSpPr>
        <p:spPr>
          <a:xfrm>
            <a:off x="3337560" y="3566160"/>
            <a:ext cx="173736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SOM</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$150M</a:t>
            </a:r>
            <a:endParaRPr lang="en-US" sz="1500" dirty="0"/>
          </a:p>
        </p:txBody>
      </p:sp>
      <p:sp>
        <p:nvSpPr>
          <p:cNvPr id="8" name="Text 6"/>
          <p:cNvSpPr/>
          <p:nvPr/>
        </p:nvSpPr>
        <p:spPr>
          <a:xfrm>
            <a:off x="6949440" y="1828800"/>
            <a:ext cx="4572000" cy="365760"/>
          </a:xfrm>
          <a:prstGeom prst="rect">
            <a:avLst/>
          </a:prstGeom>
          <a:noFill/>
          <a:ln/>
        </p:spPr>
        <p:txBody>
          <a:bodyPr wrap="square" lIns="0" tIns="0" rIns="0" bIns="0" rtlCol="0" anchor="ctr"/>
          <a:lstStyle/>
          <a:p>
            <a:pPr indent="0" marL="0">
              <a:buNone/>
            </a:pPr>
            <a:r>
              <a:rPr lang="en-US" sz="1700" b="1" dirty="0">
                <a:solidFill>
                  <a:srgbClr val="15803D"/>
                </a:solidFill>
                <a:latin typeface="Cambria" pitchFamily="34" charset="0"/>
                <a:ea typeface="Cambria" pitchFamily="34" charset="-122"/>
                <a:cs typeface="Cambria" pitchFamily="34" charset="-120"/>
              </a:rPr>
              <a:t>TAM  </a:t>
            </a:r>
            <a:pPr indent="0" marL="0">
              <a:buNone/>
            </a:pPr>
            <a:r>
              <a:rPr lang="en-US" sz="1700" b="1" dirty="0">
                <a:solidFill>
                  <a:srgbClr val="1E293B"/>
                </a:solidFill>
                <a:latin typeface="Cambria" pitchFamily="34" charset="0"/>
                <a:ea typeface="Cambria" pitchFamily="34" charset="-122"/>
                <a:cs typeface="Cambria" pitchFamily="34" charset="-120"/>
              </a:rPr>
              <a:t>$22B+</a:t>
            </a:r>
            <a:endParaRPr lang="en-US" sz="1700" dirty="0"/>
          </a:p>
        </p:txBody>
      </p:sp>
      <p:sp>
        <p:nvSpPr>
          <p:cNvPr id="9" name="Text 7"/>
          <p:cNvSpPr/>
          <p:nvPr/>
        </p:nvSpPr>
        <p:spPr>
          <a:xfrm>
            <a:off x="6949440" y="2194560"/>
            <a:ext cx="4572000" cy="5486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Global Agritech &amp; Supply Chain Analytics Market</a:t>
            </a:r>
            <a:endParaRPr lang="en-US" sz="1250" dirty="0"/>
          </a:p>
        </p:txBody>
      </p:sp>
      <p:sp>
        <p:nvSpPr>
          <p:cNvPr id="10" name="Text 8"/>
          <p:cNvSpPr/>
          <p:nvPr/>
        </p:nvSpPr>
        <p:spPr>
          <a:xfrm>
            <a:off x="6949440" y="3017520"/>
            <a:ext cx="4572000" cy="365760"/>
          </a:xfrm>
          <a:prstGeom prst="rect">
            <a:avLst/>
          </a:prstGeom>
          <a:noFill/>
          <a:ln/>
        </p:spPr>
        <p:txBody>
          <a:bodyPr wrap="square" lIns="0" tIns="0" rIns="0" bIns="0" rtlCol="0" anchor="ctr"/>
          <a:lstStyle/>
          <a:p>
            <a:pPr indent="0" marL="0">
              <a:buNone/>
            </a:pPr>
            <a:r>
              <a:rPr lang="en-US" sz="1700" b="1" dirty="0">
                <a:solidFill>
                  <a:srgbClr val="15803D"/>
                </a:solidFill>
                <a:latin typeface="Cambria" pitchFamily="34" charset="0"/>
                <a:ea typeface="Cambria" pitchFamily="34" charset="-122"/>
                <a:cs typeface="Cambria" pitchFamily="34" charset="-120"/>
              </a:rPr>
              <a:t>SAM  </a:t>
            </a:r>
            <a:pPr indent="0" marL="0">
              <a:buNone/>
            </a:pPr>
            <a:r>
              <a:rPr lang="en-US" sz="1700" b="1" dirty="0">
                <a:solidFill>
                  <a:srgbClr val="1E293B"/>
                </a:solidFill>
                <a:latin typeface="Cambria" pitchFamily="34" charset="0"/>
                <a:ea typeface="Cambria" pitchFamily="34" charset="-122"/>
                <a:cs typeface="Cambria" pitchFamily="34" charset="-120"/>
              </a:rPr>
              <a:t>$4.5B</a:t>
            </a:r>
            <a:endParaRPr lang="en-US" sz="1700" dirty="0"/>
          </a:p>
        </p:txBody>
      </p:sp>
      <p:sp>
        <p:nvSpPr>
          <p:cNvPr id="11" name="Text 9"/>
          <p:cNvSpPr/>
          <p:nvPr/>
        </p:nvSpPr>
        <p:spPr>
          <a:xfrm>
            <a:off x="6949440" y="3383280"/>
            <a:ext cx="4572000" cy="5486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Regional Horticultural &amp; Perishable Produce Market</a:t>
            </a:r>
            <a:endParaRPr lang="en-US" sz="1250" dirty="0"/>
          </a:p>
        </p:txBody>
      </p:sp>
      <p:sp>
        <p:nvSpPr>
          <p:cNvPr id="12" name="Text 10"/>
          <p:cNvSpPr/>
          <p:nvPr/>
        </p:nvSpPr>
        <p:spPr>
          <a:xfrm>
            <a:off x="6949440" y="4206240"/>
            <a:ext cx="4572000" cy="365760"/>
          </a:xfrm>
          <a:prstGeom prst="rect">
            <a:avLst/>
          </a:prstGeom>
          <a:noFill/>
          <a:ln/>
        </p:spPr>
        <p:txBody>
          <a:bodyPr wrap="square" lIns="0" tIns="0" rIns="0" bIns="0" rtlCol="0" anchor="ctr"/>
          <a:lstStyle/>
          <a:p>
            <a:pPr indent="0" marL="0">
              <a:buNone/>
            </a:pPr>
            <a:r>
              <a:rPr lang="en-US" sz="1700" b="1" dirty="0">
                <a:solidFill>
                  <a:srgbClr val="15803D"/>
                </a:solidFill>
                <a:latin typeface="Cambria" pitchFamily="34" charset="0"/>
                <a:ea typeface="Cambria" pitchFamily="34" charset="-122"/>
                <a:cs typeface="Cambria" pitchFamily="34" charset="-120"/>
              </a:rPr>
              <a:t>SOM  </a:t>
            </a:r>
            <a:pPr indent="0" marL="0">
              <a:buNone/>
            </a:pPr>
            <a:r>
              <a:rPr lang="en-US" sz="1700" b="1" dirty="0">
                <a:solidFill>
                  <a:srgbClr val="1E293B"/>
                </a:solidFill>
                <a:latin typeface="Cambria" pitchFamily="34" charset="0"/>
                <a:ea typeface="Cambria" pitchFamily="34" charset="-122"/>
                <a:cs typeface="Cambria" pitchFamily="34" charset="-120"/>
              </a:rPr>
              <a:t>$150M</a:t>
            </a:r>
            <a:endParaRPr lang="en-US" sz="1700" dirty="0"/>
          </a:p>
        </p:txBody>
      </p:sp>
      <p:sp>
        <p:nvSpPr>
          <p:cNvPr id="13" name="Text 11"/>
          <p:cNvSpPr/>
          <p:nvPr/>
        </p:nvSpPr>
        <p:spPr>
          <a:xfrm>
            <a:off x="6949440" y="4572000"/>
            <a:ext cx="4572000" cy="54864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Initial target: smallholder cooperatives &amp; commercial horticulture farms</a:t>
            </a:r>
            <a:endParaRPr lang="en-US" sz="1250" dirty="0"/>
          </a:p>
        </p:txBody>
      </p:sp>
      <p:sp>
        <p:nvSpPr>
          <p:cNvPr id="14" name="Text 12"/>
          <p:cNvSpPr/>
          <p:nvPr/>
        </p:nvSpPr>
        <p:spPr>
          <a:xfrm>
            <a:off x="457200" y="6492240"/>
            <a:ext cx="36576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AgriPredict AI Engine</a:t>
            </a:r>
            <a:endParaRPr lang="en-US" sz="900" dirty="0"/>
          </a:p>
        </p:txBody>
      </p:sp>
      <p:sp>
        <p:nvSpPr>
          <p:cNvPr id="15" name="Text 13"/>
          <p:cNvSpPr/>
          <p:nvPr/>
        </p:nvSpPr>
        <p:spPr>
          <a:xfrm>
            <a:off x="11002975" y="6492240"/>
            <a:ext cx="7315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algn="l" indent="0" marL="0">
              <a:buNone/>
            </a:pPr>
            <a:r>
              <a:rPr lang="en-US" sz="3000" b="1" dirty="0">
                <a:solidFill>
                  <a:srgbClr val="1E293B"/>
                </a:solidFill>
                <a:latin typeface="Cambria" pitchFamily="34" charset="0"/>
                <a:ea typeface="Cambria" pitchFamily="34" charset="-122"/>
                <a:cs typeface="Cambria" pitchFamily="34" charset="-120"/>
              </a:rPr>
              <a:t>Competitive Advantage</a:t>
            </a:r>
            <a:endParaRPr lang="en-US" sz="3000" dirty="0"/>
          </a:p>
        </p:txBody>
      </p:sp>
      <p:sp>
        <p:nvSpPr>
          <p:cNvPr id="3" name="Text 1"/>
          <p:cNvSpPr/>
          <p:nvPr/>
        </p:nvSpPr>
        <p:spPr>
          <a:xfrm>
            <a:off x="548640" y="960120"/>
            <a:ext cx="11094415" cy="411480"/>
          </a:xfrm>
          <a:prstGeom prst="rect">
            <a:avLst/>
          </a:prstGeom>
          <a:noFill/>
          <a:ln/>
        </p:spPr>
        <p:txBody>
          <a:bodyPr wrap="square" lIns="0" tIns="0" rIns="0" bIns="0" rtlCol="0" anchor="ctr"/>
          <a:lstStyle/>
          <a:p>
            <a:pPr algn="l" indent="0" marL="0">
              <a:buNone/>
            </a:pPr>
            <a:r>
              <a:rPr lang="en-US" sz="1400" i="1" dirty="0">
                <a:solidFill>
                  <a:srgbClr val="64748B"/>
                </a:solidFill>
                <a:latin typeface="Calibri" pitchFamily="34" charset="0"/>
                <a:ea typeface="Calibri" pitchFamily="34" charset="-122"/>
                <a:cs typeface="Calibri" pitchFamily="34" charset="-120"/>
              </a:rPr>
              <a:t>Purpose-built forecasting and optimization outperform generic tools and traditional brokers.</a:t>
            </a:r>
            <a:endParaRPr lang="en-US" sz="1400" dirty="0"/>
          </a:p>
        </p:txBody>
      </p:sp>
      <p:sp>
        <p:nvSpPr>
          <p:cNvPr id="4" name="Shape 2"/>
          <p:cNvSpPr/>
          <p:nvPr/>
        </p:nvSpPr>
        <p:spPr>
          <a:xfrm>
            <a:off x="822960" y="1920240"/>
            <a:ext cx="10545775" cy="640080"/>
          </a:xfrm>
          <a:prstGeom prst="roundRect">
            <a:avLst>
              <a:gd name="adj" fmla="val 7143"/>
            </a:avLst>
          </a:prstGeom>
          <a:solidFill>
            <a:srgbClr val="1E293B"/>
          </a:solidFill>
          <a:ln/>
        </p:spPr>
      </p:sp>
      <p:sp>
        <p:nvSpPr>
          <p:cNvPr id="5" name="Text 3"/>
          <p:cNvSpPr/>
          <p:nvPr/>
        </p:nvSpPr>
        <p:spPr>
          <a:xfrm>
            <a:off x="822960" y="1920240"/>
            <a:ext cx="3585564" cy="640080"/>
          </a:xfrm>
          <a:prstGeom prst="rect">
            <a:avLst/>
          </a:prstGeom>
          <a:noFill/>
          <a:ln/>
        </p:spPr>
        <p:txBody>
          <a:bodyPr wrap="square" rtlCol="0" anchor="ctr"/>
          <a:lstStyle/>
          <a:p>
            <a:pPr indent="0" marL="0">
              <a:buNone/>
            </a:pPr>
            <a:endParaRPr lang="en-US" dirty="0"/>
          </a:p>
        </p:txBody>
      </p:sp>
      <p:sp>
        <p:nvSpPr>
          <p:cNvPr id="6" name="Text 4"/>
          <p:cNvSpPr/>
          <p:nvPr/>
        </p:nvSpPr>
        <p:spPr>
          <a:xfrm>
            <a:off x="4408524" y="1920240"/>
            <a:ext cx="2320071" cy="640080"/>
          </a:xfrm>
          <a:prstGeom prst="rect">
            <a:avLst/>
          </a:prstGeom>
          <a:noFill/>
          <a:ln/>
        </p:spPr>
        <p:txBody>
          <a:bodyPr wrap="square" lIns="0" tIns="0" rIns="0" bIns="0" rtlCol="0" anchor="ctr"/>
          <a:lstStyle/>
          <a:p>
            <a:pPr algn="ctr" indent="0" marL="0">
              <a:buNone/>
            </a:pPr>
            <a:r>
              <a:rPr lang="en-US" sz="1350" b="1" dirty="0">
                <a:solidFill>
                  <a:srgbClr val="86EFAC"/>
                </a:solidFill>
                <a:latin typeface="Cambria" pitchFamily="34" charset="0"/>
                <a:ea typeface="Cambria" pitchFamily="34" charset="-122"/>
                <a:cs typeface="Cambria" pitchFamily="34" charset="-120"/>
              </a:rPr>
              <a:t>AgriPredict</a:t>
            </a:r>
            <a:endParaRPr lang="en-US" sz="1350" dirty="0"/>
          </a:p>
        </p:txBody>
      </p:sp>
      <p:sp>
        <p:nvSpPr>
          <p:cNvPr id="7" name="Text 5"/>
          <p:cNvSpPr/>
          <p:nvPr/>
        </p:nvSpPr>
        <p:spPr>
          <a:xfrm>
            <a:off x="6728594" y="1920240"/>
            <a:ext cx="2320071"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Traditional Mandi Brokers</a:t>
            </a:r>
            <a:endParaRPr lang="en-US" sz="1350" dirty="0"/>
          </a:p>
        </p:txBody>
      </p:sp>
      <p:sp>
        <p:nvSpPr>
          <p:cNvPr id="8" name="Text 6"/>
          <p:cNvSpPr/>
          <p:nvPr/>
        </p:nvSpPr>
        <p:spPr>
          <a:xfrm>
            <a:off x="9048665" y="1920240"/>
            <a:ext cx="2320071"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Generic Weather Apps</a:t>
            </a:r>
            <a:endParaRPr lang="en-US" sz="1350" dirty="0"/>
          </a:p>
        </p:txBody>
      </p:sp>
      <p:sp>
        <p:nvSpPr>
          <p:cNvPr id="9" name="Shape 7"/>
          <p:cNvSpPr/>
          <p:nvPr/>
        </p:nvSpPr>
        <p:spPr>
          <a:xfrm>
            <a:off x="822960" y="2560320"/>
            <a:ext cx="10545775" cy="777240"/>
          </a:xfrm>
          <a:prstGeom prst="rect">
            <a:avLst/>
          </a:prstGeom>
          <a:solidFill>
            <a:srgbClr val="FFFFFF"/>
          </a:solidFill>
          <a:ln w="6350">
            <a:solidFill>
              <a:srgbClr val="E2E8F0"/>
            </a:solidFill>
            <a:prstDash val="solid"/>
          </a:ln>
        </p:spPr>
      </p:sp>
      <p:sp>
        <p:nvSpPr>
          <p:cNvPr id="10" name="Text 8"/>
          <p:cNvSpPr/>
          <p:nvPr/>
        </p:nvSpPr>
        <p:spPr>
          <a:xfrm>
            <a:off x="1005840" y="2560320"/>
            <a:ext cx="3311244" cy="7772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Spot Price Forecasting</a:t>
            </a:r>
            <a:endParaRPr lang="en-US" sz="1300" dirty="0"/>
          </a:p>
        </p:txBody>
      </p:sp>
      <p:pic>
        <p:nvPicPr>
          <p:cNvPr id="11" name="Image 0" descr="/home/claude/agripredict/icons/check-circle.png">    </p:cNvPr>
          <p:cNvPicPr>
            <a:picLocks noChangeAspect="1"/>
          </p:cNvPicPr>
          <p:nvPr/>
        </p:nvPicPr>
        <p:blipFill>
          <a:blip r:embed="rId1"/>
          <a:stretch>
            <a:fillRect/>
          </a:stretch>
        </p:blipFill>
        <p:spPr>
          <a:xfrm>
            <a:off x="5367391" y="2747772"/>
            <a:ext cx="402336" cy="402336"/>
          </a:xfrm>
          <a:prstGeom prst="rect">
            <a:avLst/>
          </a:prstGeom>
        </p:spPr>
      </p:pic>
      <p:pic>
        <p:nvPicPr>
          <p:cNvPr id="12" name="Image 1" descr="/home/claude/agripredict/icons/x-circle.png">    </p:cNvPr>
          <p:cNvPicPr>
            <a:picLocks noChangeAspect="1"/>
          </p:cNvPicPr>
          <p:nvPr/>
        </p:nvPicPr>
        <p:blipFill>
          <a:blip r:embed="rId2"/>
          <a:stretch>
            <a:fillRect/>
          </a:stretch>
        </p:blipFill>
        <p:spPr>
          <a:xfrm>
            <a:off x="7687461" y="2747772"/>
            <a:ext cx="402336" cy="402336"/>
          </a:xfrm>
          <a:prstGeom prst="rect">
            <a:avLst/>
          </a:prstGeom>
        </p:spPr>
      </p:pic>
      <p:pic>
        <p:nvPicPr>
          <p:cNvPr id="13" name="Image 2" descr="/home/claude/agripredict/icons/x-circle.png">    </p:cNvPr>
          <p:cNvPicPr>
            <a:picLocks noChangeAspect="1"/>
          </p:cNvPicPr>
          <p:nvPr/>
        </p:nvPicPr>
        <p:blipFill>
          <a:blip r:embed="rId3"/>
          <a:stretch>
            <a:fillRect/>
          </a:stretch>
        </p:blipFill>
        <p:spPr>
          <a:xfrm>
            <a:off x="10007532" y="2747772"/>
            <a:ext cx="402336" cy="402336"/>
          </a:xfrm>
          <a:prstGeom prst="rect">
            <a:avLst/>
          </a:prstGeom>
        </p:spPr>
      </p:pic>
      <p:sp>
        <p:nvSpPr>
          <p:cNvPr id="14" name="Shape 9"/>
          <p:cNvSpPr/>
          <p:nvPr/>
        </p:nvSpPr>
        <p:spPr>
          <a:xfrm>
            <a:off x="822960" y="3337560"/>
            <a:ext cx="10545775" cy="777240"/>
          </a:xfrm>
          <a:prstGeom prst="rect">
            <a:avLst/>
          </a:prstGeom>
          <a:solidFill>
            <a:srgbClr val="F1F5F9"/>
          </a:solidFill>
          <a:ln w="6350">
            <a:solidFill>
              <a:srgbClr val="E2E8F0"/>
            </a:solidFill>
            <a:prstDash val="solid"/>
          </a:ln>
        </p:spPr>
      </p:sp>
      <p:sp>
        <p:nvSpPr>
          <p:cNvPr id="15" name="Text 10"/>
          <p:cNvSpPr/>
          <p:nvPr/>
        </p:nvSpPr>
        <p:spPr>
          <a:xfrm>
            <a:off x="1005840" y="3337560"/>
            <a:ext cx="3311244" cy="7772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Cold-Storage Arbitrage Calculation</a:t>
            </a:r>
            <a:endParaRPr lang="en-US" sz="1300" dirty="0"/>
          </a:p>
        </p:txBody>
      </p:sp>
      <p:pic>
        <p:nvPicPr>
          <p:cNvPr id="16" name="Image 3" descr="/home/claude/agripredict/icons/check-circle.png">    </p:cNvPr>
          <p:cNvPicPr>
            <a:picLocks noChangeAspect="1"/>
          </p:cNvPicPr>
          <p:nvPr/>
        </p:nvPicPr>
        <p:blipFill>
          <a:blip r:embed="rId4"/>
          <a:stretch>
            <a:fillRect/>
          </a:stretch>
        </p:blipFill>
        <p:spPr>
          <a:xfrm>
            <a:off x="5367391" y="3525012"/>
            <a:ext cx="402336" cy="402336"/>
          </a:xfrm>
          <a:prstGeom prst="rect">
            <a:avLst/>
          </a:prstGeom>
        </p:spPr>
      </p:pic>
      <p:pic>
        <p:nvPicPr>
          <p:cNvPr id="17" name="Image 4" descr="/home/claude/agripredict/icons/x-circle.png">    </p:cNvPr>
          <p:cNvPicPr>
            <a:picLocks noChangeAspect="1"/>
          </p:cNvPicPr>
          <p:nvPr/>
        </p:nvPicPr>
        <p:blipFill>
          <a:blip r:embed="rId5"/>
          <a:stretch>
            <a:fillRect/>
          </a:stretch>
        </p:blipFill>
        <p:spPr>
          <a:xfrm>
            <a:off x="7687461" y="3525012"/>
            <a:ext cx="402336" cy="402336"/>
          </a:xfrm>
          <a:prstGeom prst="rect">
            <a:avLst/>
          </a:prstGeom>
        </p:spPr>
      </p:pic>
      <p:pic>
        <p:nvPicPr>
          <p:cNvPr id="18" name="Image 5" descr="/home/claude/agripredict/icons/x-circle.png">    </p:cNvPr>
          <p:cNvPicPr>
            <a:picLocks noChangeAspect="1"/>
          </p:cNvPicPr>
          <p:nvPr/>
        </p:nvPicPr>
        <p:blipFill>
          <a:blip r:embed="rId6"/>
          <a:stretch>
            <a:fillRect/>
          </a:stretch>
        </p:blipFill>
        <p:spPr>
          <a:xfrm>
            <a:off x="10007532" y="3525012"/>
            <a:ext cx="402336" cy="402336"/>
          </a:xfrm>
          <a:prstGeom prst="rect">
            <a:avLst/>
          </a:prstGeom>
        </p:spPr>
      </p:pic>
      <p:sp>
        <p:nvSpPr>
          <p:cNvPr id="19" name="Shape 11"/>
          <p:cNvSpPr/>
          <p:nvPr/>
        </p:nvSpPr>
        <p:spPr>
          <a:xfrm>
            <a:off x="822960" y="4114800"/>
            <a:ext cx="10545775" cy="777240"/>
          </a:xfrm>
          <a:prstGeom prst="rect">
            <a:avLst/>
          </a:prstGeom>
          <a:solidFill>
            <a:srgbClr val="FFFFFF"/>
          </a:solidFill>
          <a:ln w="6350">
            <a:solidFill>
              <a:srgbClr val="E2E8F0"/>
            </a:solidFill>
            <a:prstDash val="solid"/>
          </a:ln>
        </p:spPr>
      </p:sp>
      <p:sp>
        <p:nvSpPr>
          <p:cNvPr id="20" name="Text 12"/>
          <p:cNvSpPr/>
          <p:nvPr/>
        </p:nvSpPr>
        <p:spPr>
          <a:xfrm>
            <a:off x="1005840" y="4114800"/>
            <a:ext cx="3311244" cy="7772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Dijkstra Route Planning</a:t>
            </a:r>
            <a:endParaRPr lang="en-US" sz="1300" dirty="0"/>
          </a:p>
        </p:txBody>
      </p:sp>
      <p:pic>
        <p:nvPicPr>
          <p:cNvPr id="21" name="Image 6" descr="/home/claude/agripredict/icons/check-circle.png">    </p:cNvPr>
          <p:cNvPicPr>
            <a:picLocks noChangeAspect="1"/>
          </p:cNvPicPr>
          <p:nvPr/>
        </p:nvPicPr>
        <p:blipFill>
          <a:blip r:embed="rId7"/>
          <a:stretch>
            <a:fillRect/>
          </a:stretch>
        </p:blipFill>
        <p:spPr>
          <a:xfrm>
            <a:off x="5367391" y="4302252"/>
            <a:ext cx="402336" cy="402336"/>
          </a:xfrm>
          <a:prstGeom prst="rect">
            <a:avLst/>
          </a:prstGeom>
        </p:spPr>
      </p:pic>
      <p:pic>
        <p:nvPicPr>
          <p:cNvPr id="22" name="Image 7" descr="/home/claude/agripredict/icons/x-circle.png">    </p:cNvPr>
          <p:cNvPicPr>
            <a:picLocks noChangeAspect="1"/>
          </p:cNvPicPr>
          <p:nvPr/>
        </p:nvPicPr>
        <p:blipFill>
          <a:blip r:embed="rId8"/>
          <a:stretch>
            <a:fillRect/>
          </a:stretch>
        </p:blipFill>
        <p:spPr>
          <a:xfrm>
            <a:off x="7687461" y="4302252"/>
            <a:ext cx="402336" cy="402336"/>
          </a:xfrm>
          <a:prstGeom prst="rect">
            <a:avLst/>
          </a:prstGeom>
        </p:spPr>
      </p:pic>
      <p:pic>
        <p:nvPicPr>
          <p:cNvPr id="23" name="Image 8" descr="/home/claude/agripredict/icons/x-circle.png">    </p:cNvPr>
          <p:cNvPicPr>
            <a:picLocks noChangeAspect="1"/>
          </p:cNvPicPr>
          <p:nvPr/>
        </p:nvPicPr>
        <p:blipFill>
          <a:blip r:embed="rId9"/>
          <a:stretch>
            <a:fillRect/>
          </a:stretch>
        </p:blipFill>
        <p:spPr>
          <a:xfrm>
            <a:off x="10007532" y="4302252"/>
            <a:ext cx="402336" cy="402336"/>
          </a:xfrm>
          <a:prstGeom prst="rect">
            <a:avLst/>
          </a:prstGeom>
        </p:spPr>
      </p:pic>
      <p:sp>
        <p:nvSpPr>
          <p:cNvPr id="24" name="Shape 13"/>
          <p:cNvSpPr/>
          <p:nvPr/>
        </p:nvSpPr>
        <p:spPr>
          <a:xfrm>
            <a:off x="822960" y="4892040"/>
            <a:ext cx="10545775" cy="777240"/>
          </a:xfrm>
          <a:prstGeom prst="rect">
            <a:avLst/>
          </a:prstGeom>
          <a:solidFill>
            <a:srgbClr val="F1F5F9"/>
          </a:solidFill>
          <a:ln w="6350">
            <a:solidFill>
              <a:srgbClr val="E2E8F0"/>
            </a:solidFill>
            <a:prstDash val="solid"/>
          </a:ln>
        </p:spPr>
      </p:sp>
      <p:sp>
        <p:nvSpPr>
          <p:cNvPr id="25" name="Text 14"/>
          <p:cNvSpPr/>
          <p:nvPr/>
        </p:nvSpPr>
        <p:spPr>
          <a:xfrm>
            <a:off x="1005840" y="4892040"/>
            <a:ext cx="3311244" cy="7772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Offline / Zero-Key Accessibility</a:t>
            </a:r>
            <a:endParaRPr lang="en-US" sz="1300" dirty="0"/>
          </a:p>
        </p:txBody>
      </p:sp>
      <p:pic>
        <p:nvPicPr>
          <p:cNvPr id="26" name="Image 9" descr="/home/claude/agripredict/icons/check-circle.png">    </p:cNvPr>
          <p:cNvPicPr>
            <a:picLocks noChangeAspect="1"/>
          </p:cNvPicPr>
          <p:nvPr/>
        </p:nvPicPr>
        <p:blipFill>
          <a:blip r:embed="rId10"/>
          <a:stretch>
            <a:fillRect/>
          </a:stretch>
        </p:blipFill>
        <p:spPr>
          <a:xfrm>
            <a:off x="5367391" y="5079492"/>
            <a:ext cx="402336" cy="402336"/>
          </a:xfrm>
          <a:prstGeom prst="rect">
            <a:avLst/>
          </a:prstGeom>
        </p:spPr>
      </p:pic>
      <p:pic>
        <p:nvPicPr>
          <p:cNvPr id="27" name="Image 10" descr="/home/claude/agripredict/icons/check-circle.png">    </p:cNvPr>
          <p:cNvPicPr>
            <a:picLocks noChangeAspect="1"/>
          </p:cNvPicPr>
          <p:nvPr/>
        </p:nvPicPr>
        <p:blipFill>
          <a:blip r:embed="rId11"/>
          <a:stretch>
            <a:fillRect/>
          </a:stretch>
        </p:blipFill>
        <p:spPr>
          <a:xfrm>
            <a:off x="7687461" y="5079492"/>
            <a:ext cx="402336" cy="402336"/>
          </a:xfrm>
          <a:prstGeom prst="rect">
            <a:avLst/>
          </a:prstGeom>
        </p:spPr>
      </p:pic>
      <p:pic>
        <p:nvPicPr>
          <p:cNvPr id="28" name="Image 11" descr="/home/claude/agripredict/icons/x-circle.png">    </p:cNvPr>
          <p:cNvPicPr>
            <a:picLocks noChangeAspect="1"/>
          </p:cNvPicPr>
          <p:nvPr/>
        </p:nvPicPr>
        <p:blipFill>
          <a:blip r:embed="rId12"/>
          <a:stretch>
            <a:fillRect/>
          </a:stretch>
        </p:blipFill>
        <p:spPr>
          <a:xfrm>
            <a:off x="10007532" y="5079492"/>
            <a:ext cx="402336" cy="402336"/>
          </a:xfrm>
          <a:prstGeom prst="rect">
            <a:avLst/>
          </a:prstGeom>
        </p:spPr>
      </p:pic>
      <p:sp>
        <p:nvSpPr>
          <p:cNvPr id="29" name="Text 15"/>
          <p:cNvSpPr/>
          <p:nvPr/>
        </p:nvSpPr>
        <p:spPr>
          <a:xfrm>
            <a:off x="457200" y="6492240"/>
            <a:ext cx="36576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AgriPredict AI Engine</a:t>
            </a:r>
            <a:endParaRPr lang="en-US" sz="900" dirty="0"/>
          </a:p>
        </p:txBody>
      </p:sp>
      <p:sp>
        <p:nvSpPr>
          <p:cNvPr id="30" name="Text 16"/>
          <p:cNvSpPr/>
          <p:nvPr/>
        </p:nvSpPr>
        <p:spPr>
          <a:xfrm>
            <a:off x="11002975" y="6492240"/>
            <a:ext cx="7315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Roadmap &amp; The Ask</a:t>
            </a:r>
            <a:endParaRPr lang="en-US" sz="3000" dirty="0"/>
          </a:p>
        </p:txBody>
      </p:sp>
      <p:sp>
        <p:nvSpPr>
          <p:cNvPr id="3" name="Text 1"/>
          <p:cNvSpPr/>
          <p:nvPr/>
        </p:nvSpPr>
        <p:spPr>
          <a:xfrm>
            <a:off x="548640" y="960120"/>
            <a:ext cx="11094415" cy="411480"/>
          </a:xfrm>
          <a:prstGeom prst="rect">
            <a:avLst/>
          </a:prstGeom>
          <a:noFill/>
          <a:ln/>
        </p:spPr>
        <p:txBody>
          <a:bodyPr wrap="square" lIns="0" tIns="0" rIns="0" bIns="0" rtlCol="0" anchor="ctr"/>
          <a:lstStyle/>
          <a:p>
            <a:pPr algn="l" indent="0" marL="0">
              <a:buNone/>
            </a:pPr>
            <a:r>
              <a:rPr lang="en-US" sz="1400" i="1" dirty="0">
                <a:solidFill>
                  <a:srgbClr val="CBD5E1"/>
                </a:solidFill>
                <a:latin typeface="Calibri" pitchFamily="34" charset="0"/>
                <a:ea typeface="Calibri" pitchFamily="34" charset="-122"/>
                <a:cs typeface="Calibri" pitchFamily="34" charset="-120"/>
              </a:rPr>
              <a:t>From working prototype to a full agri-fintech ecosystem.</a:t>
            </a:r>
            <a:endParaRPr lang="en-US" sz="1400" dirty="0"/>
          </a:p>
        </p:txBody>
      </p:sp>
      <p:sp>
        <p:nvSpPr>
          <p:cNvPr id="4" name="Shape 2"/>
          <p:cNvSpPr/>
          <p:nvPr/>
        </p:nvSpPr>
        <p:spPr>
          <a:xfrm>
            <a:off x="632308" y="1828800"/>
            <a:ext cx="3429000" cy="2651760"/>
          </a:xfrm>
          <a:prstGeom prst="roundRect">
            <a:avLst>
              <a:gd name="adj" fmla="val 2759"/>
            </a:avLst>
          </a:prstGeom>
          <a:solidFill>
            <a:srgbClr val="1E293B"/>
          </a:solidFill>
          <a:ln w="12700">
            <a:solidFill>
              <a:srgbClr val="334155"/>
            </a:solidFill>
            <a:prstDash val="solid"/>
          </a:ln>
        </p:spPr>
      </p:sp>
      <p:sp>
        <p:nvSpPr>
          <p:cNvPr id="5" name="Shape 3"/>
          <p:cNvSpPr/>
          <p:nvPr/>
        </p:nvSpPr>
        <p:spPr>
          <a:xfrm>
            <a:off x="906628" y="2103120"/>
            <a:ext cx="548640" cy="548640"/>
          </a:xfrm>
          <a:prstGeom prst="ellipse">
            <a:avLst/>
          </a:prstGeom>
          <a:solidFill>
            <a:srgbClr val="15803D"/>
          </a:solidFill>
          <a:ln/>
        </p:spPr>
      </p:sp>
      <p:pic>
        <p:nvPicPr>
          <p:cNvPr id="6" name="Image 0" descr="/home/claude/agripredict/icons/flag.png">    </p:cNvPr>
          <p:cNvPicPr>
            <a:picLocks noChangeAspect="1"/>
          </p:cNvPicPr>
          <p:nvPr/>
        </p:nvPicPr>
        <p:blipFill>
          <a:blip r:embed="rId1"/>
          <a:stretch>
            <a:fillRect/>
          </a:stretch>
        </p:blipFill>
        <p:spPr>
          <a:xfrm>
            <a:off x="980694" y="2177186"/>
            <a:ext cx="400507" cy="400507"/>
          </a:xfrm>
          <a:prstGeom prst="rect">
            <a:avLst/>
          </a:prstGeom>
        </p:spPr>
      </p:pic>
      <p:sp>
        <p:nvSpPr>
          <p:cNvPr id="7" name="Text 4"/>
          <p:cNvSpPr/>
          <p:nvPr/>
        </p:nvSpPr>
        <p:spPr>
          <a:xfrm>
            <a:off x="1592428" y="2121408"/>
            <a:ext cx="2240280" cy="5029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Phase 1 — MVP (Current)</a:t>
            </a:r>
            <a:endParaRPr lang="en-US" sz="1350" dirty="0"/>
          </a:p>
        </p:txBody>
      </p:sp>
      <p:sp>
        <p:nvSpPr>
          <p:cNvPr id="8" name="Text 5"/>
          <p:cNvSpPr/>
          <p:nvPr/>
        </p:nvSpPr>
        <p:spPr>
          <a:xfrm>
            <a:off x="906628" y="2880360"/>
            <a:ext cx="2880360" cy="1417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CBD5E1"/>
                </a:solidFill>
                <a:latin typeface="Calibri" pitchFamily="34" charset="0"/>
                <a:ea typeface="Calibri" pitchFamily="34" charset="-122"/>
                <a:cs typeface="Calibri" pitchFamily="34" charset="-120"/>
              </a:rPr>
              <a:t>In-memory JS/Python prototype</a:t>
            </a:r>
            <a:endParaRPr lang="en-US" sz="1250" dirty="0"/>
          </a:p>
          <a:p>
            <a:pPr marL="342900" indent="-342900">
              <a:spcAft>
                <a:spcPts val="600"/>
              </a:spcAft>
              <a:buSzPct val="100000"/>
              <a:buChar char="•"/>
            </a:pPr>
            <a:r>
              <a:rPr lang="en-US" sz="1250" dirty="0">
                <a:solidFill>
                  <a:srgbClr val="CBD5E1"/>
                </a:solidFill>
                <a:latin typeface="Calibri" pitchFamily="34" charset="0"/>
                <a:ea typeface="Calibri" pitchFamily="34" charset="-122"/>
                <a:cs typeface="Calibri" pitchFamily="34" charset="-120"/>
              </a:rPr>
              <a:t>Dijkstra routing engine</a:t>
            </a:r>
            <a:endParaRPr lang="en-US" sz="1250" dirty="0"/>
          </a:p>
          <a:p>
            <a:pPr marL="342900" indent="-342900">
              <a:spcAft>
                <a:spcPts val="600"/>
              </a:spcAft>
              <a:buSzPct val="100000"/>
              <a:buChar char="•"/>
            </a:pPr>
            <a:r>
              <a:rPr lang="en-US" sz="1250" dirty="0">
                <a:solidFill>
                  <a:srgbClr val="CBD5E1"/>
                </a:solidFill>
                <a:latin typeface="Calibri" pitchFamily="34" charset="0"/>
                <a:ea typeface="Calibri" pitchFamily="34" charset="-122"/>
                <a:cs typeface="Calibri" pitchFamily="34" charset="-120"/>
              </a:rPr>
              <a:t>Simulated arbitrage calculator</a:t>
            </a:r>
            <a:endParaRPr lang="en-US" sz="1250" dirty="0"/>
          </a:p>
        </p:txBody>
      </p:sp>
      <p:sp>
        <p:nvSpPr>
          <p:cNvPr id="9" name="Shape 6"/>
          <p:cNvSpPr/>
          <p:nvPr/>
        </p:nvSpPr>
        <p:spPr>
          <a:xfrm>
            <a:off x="4097884" y="3035808"/>
            <a:ext cx="246888" cy="237744"/>
          </a:xfrm>
          <a:prstGeom prst="rightArrow">
            <a:avLst/>
          </a:prstGeom>
          <a:solidFill>
            <a:srgbClr val="D97706"/>
          </a:solidFill>
          <a:ln/>
        </p:spPr>
      </p:sp>
      <p:sp>
        <p:nvSpPr>
          <p:cNvPr id="10" name="Shape 7"/>
          <p:cNvSpPr/>
          <p:nvPr/>
        </p:nvSpPr>
        <p:spPr>
          <a:xfrm>
            <a:off x="4381348" y="1828800"/>
            <a:ext cx="3429000" cy="2651760"/>
          </a:xfrm>
          <a:prstGeom prst="roundRect">
            <a:avLst>
              <a:gd name="adj" fmla="val 2759"/>
            </a:avLst>
          </a:prstGeom>
          <a:solidFill>
            <a:srgbClr val="1E293B"/>
          </a:solidFill>
          <a:ln w="12700">
            <a:solidFill>
              <a:srgbClr val="334155"/>
            </a:solidFill>
            <a:prstDash val="solid"/>
          </a:ln>
        </p:spPr>
      </p:sp>
      <p:sp>
        <p:nvSpPr>
          <p:cNvPr id="11" name="Shape 8"/>
          <p:cNvSpPr/>
          <p:nvPr/>
        </p:nvSpPr>
        <p:spPr>
          <a:xfrm>
            <a:off x="4655668" y="2103120"/>
            <a:ext cx="548640" cy="548640"/>
          </a:xfrm>
          <a:prstGeom prst="ellipse">
            <a:avLst/>
          </a:prstGeom>
          <a:solidFill>
            <a:srgbClr val="15803D"/>
          </a:solidFill>
          <a:ln/>
        </p:spPr>
      </p:sp>
      <p:pic>
        <p:nvPicPr>
          <p:cNvPr id="12" name="Image 1" descr="/home/claude/agripredict/icons/git-branch.png">    </p:cNvPr>
          <p:cNvPicPr>
            <a:picLocks noChangeAspect="1"/>
          </p:cNvPicPr>
          <p:nvPr/>
        </p:nvPicPr>
        <p:blipFill>
          <a:blip r:embed="rId2"/>
          <a:stretch>
            <a:fillRect/>
          </a:stretch>
        </p:blipFill>
        <p:spPr>
          <a:xfrm>
            <a:off x="4729734" y="2177186"/>
            <a:ext cx="400507" cy="400507"/>
          </a:xfrm>
          <a:prstGeom prst="rect">
            <a:avLst/>
          </a:prstGeom>
        </p:spPr>
      </p:pic>
      <p:sp>
        <p:nvSpPr>
          <p:cNvPr id="13" name="Text 9"/>
          <p:cNvSpPr/>
          <p:nvPr/>
        </p:nvSpPr>
        <p:spPr>
          <a:xfrm>
            <a:off x="5341468" y="2121408"/>
            <a:ext cx="2240280" cy="5029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Phase 2 — Scale</a:t>
            </a:r>
            <a:endParaRPr lang="en-US" sz="1350" dirty="0"/>
          </a:p>
        </p:txBody>
      </p:sp>
      <p:sp>
        <p:nvSpPr>
          <p:cNvPr id="14" name="Text 10"/>
          <p:cNvSpPr/>
          <p:nvPr/>
        </p:nvSpPr>
        <p:spPr>
          <a:xfrm>
            <a:off x="4655668" y="2880360"/>
            <a:ext cx="2880360" cy="1417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CBD5E1"/>
                </a:solidFill>
                <a:latin typeface="Calibri" pitchFamily="34" charset="0"/>
                <a:ea typeface="Calibri" pitchFamily="34" charset="-122"/>
                <a:cs typeface="Calibri" pitchFamily="34" charset="-120"/>
              </a:rPr>
              <a:t>WhatsApp NLP integration</a:t>
            </a:r>
            <a:endParaRPr lang="en-US" sz="1250" dirty="0"/>
          </a:p>
          <a:p>
            <a:pPr marL="342900" indent="-342900">
              <a:spcAft>
                <a:spcPts val="600"/>
              </a:spcAft>
              <a:buSzPct val="100000"/>
              <a:buChar char="•"/>
            </a:pPr>
            <a:r>
              <a:rPr lang="en-US" sz="1250" dirty="0">
                <a:solidFill>
                  <a:srgbClr val="CBD5E1"/>
                </a:solidFill>
                <a:latin typeface="Calibri" pitchFamily="34" charset="0"/>
                <a:ea typeface="Calibri" pitchFamily="34" charset="-122"/>
                <a:cs typeface="Calibri" pitchFamily="34" charset="-120"/>
              </a:rPr>
              <a:t>Direct cold-storage booking API</a:t>
            </a:r>
            <a:endParaRPr lang="en-US" sz="1250" dirty="0"/>
          </a:p>
          <a:p>
            <a:pPr marL="342900" indent="-342900">
              <a:spcAft>
                <a:spcPts val="600"/>
              </a:spcAft>
              <a:buSzPct val="100000"/>
              <a:buChar char="•"/>
            </a:pPr>
            <a:r>
              <a:rPr lang="en-US" sz="1250" dirty="0">
                <a:solidFill>
                  <a:srgbClr val="CBD5E1"/>
                </a:solidFill>
                <a:latin typeface="Calibri" pitchFamily="34" charset="0"/>
                <a:ea typeface="Calibri" pitchFamily="34" charset="-122"/>
                <a:cs typeface="Calibri" pitchFamily="34" charset="-120"/>
              </a:rPr>
              <a:t>Computer-vision crop grading</a:t>
            </a:r>
            <a:endParaRPr lang="en-US" sz="1250" dirty="0"/>
          </a:p>
        </p:txBody>
      </p:sp>
      <p:sp>
        <p:nvSpPr>
          <p:cNvPr id="15" name="Shape 11"/>
          <p:cNvSpPr/>
          <p:nvPr/>
        </p:nvSpPr>
        <p:spPr>
          <a:xfrm>
            <a:off x="7846924" y="3035808"/>
            <a:ext cx="246888" cy="237744"/>
          </a:xfrm>
          <a:prstGeom prst="rightArrow">
            <a:avLst/>
          </a:prstGeom>
          <a:solidFill>
            <a:srgbClr val="D97706"/>
          </a:solidFill>
          <a:ln/>
        </p:spPr>
      </p:sp>
      <p:sp>
        <p:nvSpPr>
          <p:cNvPr id="16" name="Shape 12"/>
          <p:cNvSpPr/>
          <p:nvPr/>
        </p:nvSpPr>
        <p:spPr>
          <a:xfrm>
            <a:off x="8130388" y="1828800"/>
            <a:ext cx="3429000" cy="2651760"/>
          </a:xfrm>
          <a:prstGeom prst="roundRect">
            <a:avLst>
              <a:gd name="adj" fmla="val 2759"/>
            </a:avLst>
          </a:prstGeom>
          <a:solidFill>
            <a:srgbClr val="1E293B"/>
          </a:solidFill>
          <a:ln w="12700">
            <a:solidFill>
              <a:srgbClr val="334155"/>
            </a:solidFill>
            <a:prstDash val="solid"/>
          </a:ln>
        </p:spPr>
      </p:sp>
      <p:sp>
        <p:nvSpPr>
          <p:cNvPr id="17" name="Shape 13"/>
          <p:cNvSpPr/>
          <p:nvPr/>
        </p:nvSpPr>
        <p:spPr>
          <a:xfrm>
            <a:off x="8404708" y="2103120"/>
            <a:ext cx="548640" cy="548640"/>
          </a:xfrm>
          <a:prstGeom prst="ellipse">
            <a:avLst/>
          </a:prstGeom>
          <a:solidFill>
            <a:srgbClr val="15803D"/>
          </a:solidFill>
          <a:ln/>
        </p:spPr>
      </p:sp>
      <p:pic>
        <p:nvPicPr>
          <p:cNvPr id="18" name="Image 2" descr="/home/claude/agripredict/icons/shield.png">    </p:cNvPr>
          <p:cNvPicPr>
            <a:picLocks noChangeAspect="1"/>
          </p:cNvPicPr>
          <p:nvPr/>
        </p:nvPicPr>
        <p:blipFill>
          <a:blip r:embed="rId3"/>
          <a:stretch>
            <a:fillRect/>
          </a:stretch>
        </p:blipFill>
        <p:spPr>
          <a:xfrm>
            <a:off x="8478774" y="2177186"/>
            <a:ext cx="400507" cy="400507"/>
          </a:xfrm>
          <a:prstGeom prst="rect">
            <a:avLst/>
          </a:prstGeom>
        </p:spPr>
      </p:pic>
      <p:sp>
        <p:nvSpPr>
          <p:cNvPr id="19" name="Text 14"/>
          <p:cNvSpPr/>
          <p:nvPr/>
        </p:nvSpPr>
        <p:spPr>
          <a:xfrm>
            <a:off x="9090508" y="2121408"/>
            <a:ext cx="2240280" cy="5029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Phase 3 — Ecosystem</a:t>
            </a:r>
            <a:endParaRPr lang="en-US" sz="1350" dirty="0"/>
          </a:p>
        </p:txBody>
      </p:sp>
      <p:sp>
        <p:nvSpPr>
          <p:cNvPr id="20" name="Text 15"/>
          <p:cNvSpPr/>
          <p:nvPr/>
        </p:nvSpPr>
        <p:spPr>
          <a:xfrm>
            <a:off x="8404708" y="2880360"/>
            <a:ext cx="2880360" cy="1417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CBD5E1"/>
                </a:solidFill>
                <a:latin typeface="Calibri" pitchFamily="34" charset="0"/>
                <a:ea typeface="Calibri" pitchFamily="34" charset="-122"/>
                <a:cs typeface="Calibri" pitchFamily="34" charset="-120"/>
              </a:rPr>
              <a:t>Parametric crop insurance integration</a:t>
            </a:r>
            <a:endParaRPr lang="en-US" sz="1250" dirty="0"/>
          </a:p>
          <a:p>
            <a:pPr marL="342900" indent="-342900">
              <a:spcAft>
                <a:spcPts val="600"/>
              </a:spcAft>
              <a:buSzPct val="100000"/>
              <a:buChar char="•"/>
            </a:pPr>
            <a:r>
              <a:rPr lang="en-US" sz="1250" dirty="0">
                <a:solidFill>
                  <a:srgbClr val="CBD5E1"/>
                </a:solidFill>
                <a:latin typeface="Calibri" pitchFamily="34" charset="0"/>
                <a:ea typeface="Calibri" pitchFamily="34" charset="-122"/>
                <a:cs typeface="Calibri" pitchFamily="34" charset="-120"/>
              </a:rPr>
              <a:t>Smart-contract escrow payments</a:t>
            </a:r>
            <a:endParaRPr lang="en-US" sz="1250" dirty="0"/>
          </a:p>
        </p:txBody>
      </p:sp>
      <p:sp>
        <p:nvSpPr>
          <p:cNvPr id="21" name="Shape 16"/>
          <p:cNvSpPr/>
          <p:nvPr/>
        </p:nvSpPr>
        <p:spPr>
          <a:xfrm>
            <a:off x="632308" y="4800600"/>
            <a:ext cx="10927080" cy="1051560"/>
          </a:xfrm>
          <a:prstGeom prst="roundRect">
            <a:avLst>
              <a:gd name="adj" fmla="val 6957"/>
            </a:avLst>
          </a:prstGeom>
          <a:solidFill>
            <a:srgbClr val="0F2B18"/>
          </a:solidFill>
          <a:ln w="12700">
            <a:solidFill>
              <a:srgbClr val="15803D"/>
            </a:solidFill>
            <a:prstDash val="solid"/>
          </a:ln>
        </p:spPr>
      </p:sp>
      <p:sp>
        <p:nvSpPr>
          <p:cNvPr id="22" name="Text 17"/>
          <p:cNvSpPr/>
          <p:nvPr/>
        </p:nvSpPr>
        <p:spPr>
          <a:xfrm>
            <a:off x="998068" y="4800600"/>
            <a:ext cx="10195560" cy="1051560"/>
          </a:xfrm>
          <a:prstGeom prst="rect">
            <a:avLst/>
          </a:prstGeom>
          <a:noFill/>
          <a:ln/>
        </p:spPr>
        <p:txBody>
          <a:bodyPr wrap="square" lIns="0" tIns="0" rIns="0" bIns="0" rtlCol="0" anchor="ctr"/>
          <a:lstStyle/>
          <a:p>
            <a:pPr algn="ctr" indent="0" marL="0">
              <a:buNone/>
            </a:pPr>
            <a:r>
              <a:rPr lang="en-US" sz="1600" b="1" i="1" dirty="0">
                <a:solidFill>
                  <a:srgbClr val="FFFFFF"/>
                </a:solidFill>
                <a:latin typeface="Cambria" pitchFamily="34" charset="0"/>
                <a:ea typeface="Cambria" pitchFamily="34" charset="-122"/>
                <a:cs typeface="Cambria" pitchFamily="34" charset="-120"/>
              </a:rPr>
              <a:t>Join us in reshaping agricultural supply chains.</a:t>
            </a:r>
            <a:endParaRPr lang="en-US" sz="1600" dirty="0"/>
          </a:p>
          <a:p>
            <a:pPr algn="ctr" indent="0" marL="0">
              <a:buNone/>
            </a:pPr>
            <a:r>
              <a:rPr lang="en-US" sz="1600" b="1" i="1" dirty="0">
                <a:solidFill>
                  <a:srgbClr val="FFFFFF"/>
                </a:solidFill>
                <a:latin typeface="Cambria" pitchFamily="34" charset="0"/>
                <a:ea typeface="Cambria" pitchFamily="34" charset="-122"/>
                <a:cs typeface="Cambria" pitchFamily="34" charset="-120"/>
              </a:rPr>
              <a:t>Let’s make farming predictable and profitable.</a:t>
            </a:r>
            <a:endParaRPr lang="en-US" sz="1600" dirty="0"/>
          </a:p>
        </p:txBody>
      </p:sp>
      <p:sp>
        <p:nvSpPr>
          <p:cNvPr id="23" name="Text 18"/>
          <p:cNvSpPr/>
          <p:nvPr/>
        </p:nvSpPr>
        <p:spPr>
          <a:xfrm>
            <a:off x="457200" y="6492240"/>
            <a:ext cx="3657600" cy="274320"/>
          </a:xfrm>
          <a:prstGeom prst="rect">
            <a:avLst/>
          </a:prstGeom>
          <a:noFill/>
          <a:ln/>
        </p:spPr>
        <p:txBody>
          <a:bodyPr wrap="square"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AgriPredict AI Engine</a:t>
            </a:r>
            <a:endParaRPr lang="en-US" sz="900" dirty="0"/>
          </a:p>
        </p:txBody>
      </p:sp>
      <p:sp>
        <p:nvSpPr>
          <p:cNvPr id="24" name="Text 19"/>
          <p:cNvSpPr/>
          <p:nvPr/>
        </p:nvSpPr>
        <p:spPr>
          <a:xfrm>
            <a:off x="11002975" y="6492240"/>
            <a:ext cx="73152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2026-09-05T08:11:01Z</dcterms:created>
  <dcterms:modified xsi:type="dcterms:W3CDTF">2026-09-05T08:11:01Z</dcterms:modified>
</cp:coreProperties>
</file>